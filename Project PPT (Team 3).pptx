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GFS Artemisia Italics" charset="1" panose="02000503000000090003"/>
      <p:regular r:id="rId22"/>
    </p:embeddedFont>
    <p:embeddedFont>
      <p:font typeface="Helvetica World Bold" charset="1" panose="020B0800040000020004"/>
      <p:regular r:id="rId23"/>
    </p:embeddedFont>
    <p:embeddedFont>
      <p:font typeface="Helvetica World" charset="1" panose="020B0500040000020004"/>
      <p:regular r:id="rId24"/>
    </p:embeddedFont>
    <p:embeddedFont>
      <p:font typeface="Open Sauce" charset="1" panose="00000500000000000000"/>
      <p:regular r:id="rId25"/>
    </p:embeddedFont>
    <p:embeddedFont>
      <p:font typeface="Helvetica World Italics" charset="1" panose="020B0500040000090004"/>
      <p:regular r:id="rId26"/>
    </p:embeddedFont>
    <p:embeddedFont>
      <p:font typeface="Garet Bold" charset="1" panose="00000000000000000000"/>
      <p:regular r:id="rId27"/>
    </p:embeddedFont>
    <p:embeddedFont>
      <p:font typeface="Times New Roman MT Condensed Italics" charset="1" panose="020305060704050903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68320" y="3538649"/>
            <a:ext cx="10751361" cy="177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4"/>
              </a:lnSpc>
            </a:pPr>
            <a:r>
              <a:rPr lang="en-US" sz="6624" i="true" spc="-397">
                <a:solidFill>
                  <a:srgbClr val="000000"/>
                </a:solidFill>
                <a:latin typeface="GFS Artemisia Italics"/>
                <a:ea typeface="GFS Artemisia Italics"/>
                <a:cs typeface="GFS Artemisia Italics"/>
                <a:sym typeface="GFS Artemisia Italics"/>
              </a:rPr>
              <a:t>Lung cancer Detection in its early stage using TransUNet.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35888" y="7369573"/>
            <a:ext cx="4432940" cy="198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4"/>
              </a:lnSpc>
            </a:pPr>
            <a:r>
              <a:rPr lang="en-US" sz="1691" spc="-10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BATCH - A03</a:t>
            </a:r>
          </a:p>
          <a:p>
            <a:pPr algn="l">
              <a:lnSpc>
                <a:spcPts val="2164"/>
              </a:lnSpc>
            </a:pPr>
            <a:r>
              <a:rPr lang="en-US" sz="1691" spc="-10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GUIDE : DR. V. RAMESH BABU</a:t>
            </a:r>
          </a:p>
          <a:p>
            <a:pPr algn="l">
              <a:lnSpc>
                <a:spcPts val="2164"/>
              </a:lnSpc>
            </a:pPr>
          </a:p>
          <a:p>
            <a:pPr algn="l">
              <a:lnSpc>
                <a:spcPts val="2164"/>
              </a:lnSpc>
            </a:pPr>
            <a:r>
              <a:rPr lang="en-US" sz="1691" spc="-10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PRESENTED BY,</a:t>
            </a:r>
          </a:p>
          <a:p>
            <a:pPr algn="l">
              <a:lnSpc>
                <a:spcPts val="2164"/>
              </a:lnSpc>
            </a:pPr>
            <a:r>
              <a:rPr lang="en-US" sz="1691" spc="-10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 AKASH KRISHNAN - 221191101006</a:t>
            </a:r>
          </a:p>
          <a:p>
            <a:pPr algn="l">
              <a:lnSpc>
                <a:spcPts val="2164"/>
              </a:lnSpc>
            </a:pPr>
            <a:r>
              <a:rPr lang="en-US" sz="1691" spc="-10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J DHANESH - 221191101035</a:t>
            </a:r>
          </a:p>
          <a:p>
            <a:pPr algn="l">
              <a:lnSpc>
                <a:spcPts val="1606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8747934" y="6419856"/>
            <a:ext cx="792133" cy="0"/>
          </a:xfrm>
          <a:prstGeom prst="line">
            <a:avLst/>
          </a:prstGeom>
          <a:ln cap="rnd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5553967" cy="999389"/>
            <a:chOff x="0" y="0"/>
            <a:chExt cx="7405289" cy="1332518"/>
          </a:xfrm>
        </p:grpSpPr>
        <p:sp>
          <p:nvSpPr>
            <p:cNvPr name="AutoShape 3" id="3"/>
            <p:cNvSpPr/>
            <p:nvPr/>
          </p:nvSpPr>
          <p:spPr>
            <a:xfrm>
              <a:off x="0" y="1307118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7405289" cy="1024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Problem Statement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8904" y="2501265"/>
            <a:ext cx="16230600" cy="522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ung cancer is the leading cause of cancer-related deaths, largely due to late-stage diagnosis.</a:t>
            </a:r>
          </a:p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Although 3D CT scans are effective for early detection, manual interpretation of massive spatial volumes is slow, prone to cognitive fatigue, and varies between radiologists.</a:t>
            </a:r>
          </a:p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Existing AI models often struggle with either fine-grained local texture analysis or the global contextual understanding needed for highly accurate diagnosis.</a:t>
            </a:r>
          </a:p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There's a lack of explainable, multi-modal ensemble models—combining CNNs, ResNets, and Vision Transformers—that can perform both pixel-perfect segmentation and precise classification of lung nodules in a clinically meaningful way.</a:t>
            </a:r>
          </a:p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robust, automated, and interpretable clinical dashboard is needed to assist radiologists in detecting early-stage lung cancer with high baseline precision, rapid computational speed, and absolute diagnostic transparency.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06137"/>
            <a:ext cx="4833997" cy="1018510"/>
            <a:chOff x="0" y="0"/>
            <a:chExt cx="6445330" cy="1358013"/>
          </a:xfrm>
        </p:grpSpPr>
        <p:sp>
          <p:nvSpPr>
            <p:cNvPr name="AutoShape 3" id="3"/>
            <p:cNvSpPr/>
            <p:nvPr/>
          </p:nvSpPr>
          <p:spPr>
            <a:xfrm>
              <a:off x="0" y="1332613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6445330" cy="1024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Existing System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1107" y="2164975"/>
            <a:ext cx="16230600" cy="617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Traditional diagnosis of lung cancer relies on manual evaluation of massive volumetric CT scans by radiologists, which is time-intensive and prone to human error.</a:t>
            </a:r>
          </a:p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Conventional machine learning models require hand-crafted features and lack the ability to automatically extract deep, complex spatial hierarchies and edge morphology across diverse patient data.</a:t>
            </a:r>
          </a:p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Standard 2D and 3D CNN-based segmentation models (like U-Net) can detect lung nodules but often fail to capture the global context and long-range dependencies that Vision Transformers (ViTs) successfully resolve.</a:t>
            </a:r>
          </a:p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Classification and segmentation are often handled separately, leading to disjointed pipelines and a lack of unified, dual-task ensemble models that can simultaneously predict malignancy and generate pixel-perfect boundary masks.</a:t>
            </a:r>
          </a:p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Few existing systems provide visual explanations or trustworthy AI outputs, creating a critical need for an interpretable clinical dashboard that delivers multi-planar reconstructions, exact segmentation overlays, and sensible confidence scaling for radiologists.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4086"/>
            <a:ext cx="5590576" cy="998039"/>
            <a:chOff x="0" y="0"/>
            <a:chExt cx="7454101" cy="1330719"/>
          </a:xfrm>
        </p:grpSpPr>
        <p:sp>
          <p:nvSpPr>
            <p:cNvPr name="AutoShape 3" id="3"/>
            <p:cNvSpPr/>
            <p:nvPr/>
          </p:nvSpPr>
          <p:spPr>
            <a:xfrm>
              <a:off x="0" y="1305319"/>
              <a:ext cx="1431000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7454101" cy="1024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Literature Survey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1343873"/>
          <a:ext cx="16577182" cy="8324850"/>
        </p:xfrm>
        <a:graphic>
          <a:graphicData uri="http://schemas.openxmlformats.org/drawingml/2006/table">
            <a:tbl>
              <a:tblPr/>
              <a:tblGrid>
                <a:gridCol w="3315436"/>
                <a:gridCol w="3315436"/>
                <a:gridCol w="3315436"/>
                <a:gridCol w="3315436"/>
                <a:gridCol w="3315436"/>
              </a:tblGrid>
              <a:tr h="16993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Paper 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Problem Statement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Proposed 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Research Gap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530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 hybrid CNN-transformer model for predicting N staging and prognosis of NSCLC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Accurate N-staging assessment in NSCLC patients is vital for treatment planning and survival but relies on invasive pathology or limited imaging, with traditional methods struggling on small lesions and needing non-invasive precision.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 hybrid 3D CNN-Transformer model extracts local (CNN) and global (Transformer) features from CT scans for N-staging prediction and Lasso-Cox-based survival analysis (1-7 years), achieving ~82% accuracy across sets.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Pure CNNs miss global context; </a:t>
                      </a:r>
                      <a:endParaRPr lang="en-US" sz="1100"/>
                    </a:p>
                    <a:p>
                      <a:pPr algn="just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pure Transformers overlook </a:t>
                      </a:r>
                    </a:p>
                    <a:p>
                      <a:pPr algn="just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local details.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862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Dual-branch feature fusion S3D V-Net network for lung nodules segmentation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Lung nodule segmentation accuracy is hindered by heterogeneity, edge blurring, pixel imbalance, and inadequate 3D structural use in 2D/3D models.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 2.5D S3D V-Net with dual-branch feature fusion (DFFM), reverse attention (RACM), separable 3D convolutions, and central pooling fuses intra/inter-slice features for precise edge segmentation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Existing 2D/3D/2.5D models suffer high computation, info loss, or poor edge handling; limited multi-scale fusion and attention for complex anatomies/noise.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862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 multi-task model for pulmonary nodule segmentation and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Single-task deep models ignore segmentation-classification correlations, limiting performance in lung cancer </a:t>
                      </a:r>
                      <a:endParaRPr lang="en-US" sz="1100"/>
                    </a:p>
                    <a:p>
                      <a:pPr algn="l">
                        <a:lnSpc>
                          <a:spcPts val="2239"/>
                        </a:lnSpc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CAD for nodules.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MT-Net: shared backbone with Coarse Seg-net (location prior), Class-net, Fine Seg-net, and prediction distillation for joint tasks (DI 83.2%, ACC 91.9% on LIDC-IDRI).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Task silos overlook mutual benefits; no unified models exploiting correlations via distillation/priors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4086"/>
            <a:ext cx="5590576" cy="998039"/>
            <a:chOff x="0" y="0"/>
            <a:chExt cx="7454101" cy="1330719"/>
          </a:xfrm>
        </p:grpSpPr>
        <p:sp>
          <p:nvSpPr>
            <p:cNvPr name="AutoShape 3" id="3"/>
            <p:cNvSpPr/>
            <p:nvPr/>
          </p:nvSpPr>
          <p:spPr>
            <a:xfrm>
              <a:off x="0" y="1305319"/>
              <a:ext cx="1431000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7454101" cy="1024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Literature Survey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1758771"/>
          <a:ext cx="16577182" cy="5990377"/>
        </p:xfrm>
        <a:graphic>
          <a:graphicData uri="http://schemas.openxmlformats.org/drawingml/2006/table">
            <a:tbl>
              <a:tblPr/>
              <a:tblGrid>
                <a:gridCol w="3315436"/>
                <a:gridCol w="3315436"/>
                <a:gridCol w="3315436"/>
                <a:gridCol w="3315436"/>
                <a:gridCol w="3315436"/>
              </a:tblGrid>
              <a:tr h="17008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Paper 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Problem Statement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Proposed 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Research Gap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13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Fusion networks of CNN and transformer with channel attention for lung nodule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Lung nodule detection needs better boundary perception amid varying scales/shapes via limited CNN/Transformer fusion.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Dual-branch CNN-Transformer fusion with channel attention, CFM/SFM for multi-scale features and EGFR prediction.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Static fusions fail diverse nodules; lacks adaptive channel/spatial attention for detection/segmentation.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881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Accurate classification of lung nodules on CT images using the TransUnet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Doctor-dependent CT nodule classification is subjective, time-intensive, error-prone for tiny nodules, with high false positives.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TransUnet: Transformer encodes global features from patches; U-Net decodes for localization; GAP classifies benign/malignant (ACC 84.62%, AUC 0.862 on LIDC-IDRI).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Manual features limit automation; early DCNNs miss global modeling for complex backgrounds/tiny objects.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5993270" cy="1010242"/>
            <a:chOff x="0" y="0"/>
            <a:chExt cx="7991027" cy="1346990"/>
          </a:xfrm>
        </p:grpSpPr>
        <p:sp>
          <p:nvSpPr>
            <p:cNvPr name="AutoShape 3" id="3"/>
            <p:cNvSpPr/>
            <p:nvPr/>
          </p:nvSpPr>
          <p:spPr>
            <a:xfrm>
              <a:off x="0" y="1321590"/>
              <a:ext cx="1534076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7991027" cy="1024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Design Methodology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094108"/>
            <a:ext cx="16230600" cy="6047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-4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Coll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ction: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LUNA16 dataset w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il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 be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ut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lizin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mass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 3D CT scans (.mhd forma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)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nd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preci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coo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mappin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v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m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tadat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just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Prep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ce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ss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ing: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World-to-voxel coordin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slation via Simpl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ITK, extraction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of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ghly localized (Depth X Height X Breadth) 16 x 64 x 64 3D patches, 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nd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zero-mean/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-va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orma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zatio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</a:t>
            </a:r>
          </a:p>
          <a:p>
            <a:pPr algn="just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ment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ion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 pixe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-per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ct boundary ma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ks u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izing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Tra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t'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Vi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ion Transformers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UNet de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ode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nced by cross-ne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work sk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tions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just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Classification: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essing 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localiz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atch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th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ough th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sembl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od (Tr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UNet,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SimpleCNN, and Re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t-18) u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ifi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 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dense Fus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 Gate for exact ma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gnanc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predic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n.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just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Ev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lu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at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ion: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Full extent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baseline evaluation of the trained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od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 u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sing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ical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clin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cal m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such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Acc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racy, ROC-AUC, Pr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cisio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Re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all (S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itivity),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and Mean D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Score. </a:t>
            </a:r>
          </a:p>
          <a:p>
            <a:pPr algn="just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Expl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ain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abili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y: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Deployment vi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Streamlit platform as a dashboard featuri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ng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Multi-Planar Recon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uctions (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xial, coronal, sagi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tal) and direct 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eg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mentat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 overlays to v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ually prove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AI's diag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osti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focus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11350333" cy="995056"/>
            <a:chOff x="0" y="0"/>
            <a:chExt cx="15133777" cy="1326742"/>
          </a:xfrm>
        </p:grpSpPr>
        <p:sp>
          <p:nvSpPr>
            <p:cNvPr name="AutoShape 3" id="3"/>
            <p:cNvSpPr/>
            <p:nvPr/>
          </p:nvSpPr>
          <p:spPr>
            <a:xfrm>
              <a:off x="0" y="1301342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15133777" cy="1024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Architecture Diagram (Proposed System)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921288"/>
            <a:ext cx="18288000" cy="8046720"/>
            <a:chOff x="0" y="0"/>
            <a:chExt cx="24384000" cy="10728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728960"/>
                  </a:lnTo>
                  <a:lnTo>
                    <a:pt x="0" y="1072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1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592392" y="8725658"/>
            <a:ext cx="2695608" cy="633322"/>
            <a:chOff x="0" y="0"/>
            <a:chExt cx="709954" cy="1668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9954" cy="166801"/>
            </a:xfrm>
            <a:custGeom>
              <a:avLst/>
              <a:gdLst/>
              <a:ahLst/>
              <a:cxnLst/>
              <a:rect r="r" b="b" t="t" l="l"/>
              <a:pathLst>
                <a:path h="166801" w="709954">
                  <a:moveTo>
                    <a:pt x="0" y="0"/>
                  </a:moveTo>
                  <a:lnTo>
                    <a:pt x="709954" y="0"/>
                  </a:lnTo>
                  <a:lnTo>
                    <a:pt x="709954" y="166801"/>
                  </a:lnTo>
                  <a:lnTo>
                    <a:pt x="0" y="166801"/>
                  </a:lnTo>
                  <a:close/>
                </a:path>
              </a:pathLst>
            </a:custGeom>
            <a:solidFill>
              <a:srgbClr val="EBEAE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09954" cy="204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11350333" cy="995056"/>
            <a:chOff x="0" y="0"/>
            <a:chExt cx="15133777" cy="1326742"/>
          </a:xfrm>
        </p:grpSpPr>
        <p:sp>
          <p:nvSpPr>
            <p:cNvPr name="AutoShape 3" id="3"/>
            <p:cNvSpPr/>
            <p:nvPr/>
          </p:nvSpPr>
          <p:spPr>
            <a:xfrm>
              <a:off x="0" y="1301342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15133777" cy="1024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Architecture Diagram (Proposed System)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92392" y="8725658"/>
            <a:ext cx="2695608" cy="633322"/>
            <a:chOff x="0" y="0"/>
            <a:chExt cx="709954" cy="1668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9954" cy="166801"/>
            </a:xfrm>
            <a:custGeom>
              <a:avLst/>
              <a:gdLst/>
              <a:ahLst/>
              <a:cxnLst/>
              <a:rect r="r" b="b" t="t" l="l"/>
              <a:pathLst>
                <a:path h="166801" w="709954">
                  <a:moveTo>
                    <a:pt x="0" y="0"/>
                  </a:moveTo>
                  <a:lnTo>
                    <a:pt x="709954" y="0"/>
                  </a:lnTo>
                  <a:lnTo>
                    <a:pt x="709954" y="166801"/>
                  </a:lnTo>
                  <a:lnTo>
                    <a:pt x="0" y="166801"/>
                  </a:lnTo>
                  <a:close/>
                </a:path>
              </a:pathLst>
            </a:custGeom>
            <a:solidFill>
              <a:srgbClr val="EBEA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09954" cy="204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159703"/>
            <a:ext cx="16940196" cy="421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15" indent="-323857" lvl="1">
              <a:lnSpc>
                <a:spcPts val="3000"/>
              </a:lnSpc>
              <a:buFont typeface="Arial"/>
              <a:buChar char="•"/>
            </a:pPr>
            <a:r>
              <a:rPr lang="en-US" sz="3000" spc="-18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Module 1: Data Collection and Preprocessing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3000" spc="-18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system utilizes the LUNA16 dataset, mapping real-world physical coordinates to exact voxel indices using SimpleITK. It extracts highly localized 16x64x64 3D patches (the 2.5D approach) around candidate nodules and applies zero-mean, unit-variance normalization to stabilize neural network training.</a:t>
            </a:r>
          </a:p>
          <a:p>
            <a:pPr algn="l">
              <a:lnSpc>
                <a:spcPts val="3000"/>
              </a:lnSpc>
            </a:pPr>
          </a:p>
          <a:p>
            <a:pPr algn="l" marL="647715" indent="-323857" lvl="1">
              <a:lnSpc>
                <a:spcPts val="3000"/>
              </a:lnSpc>
              <a:buFont typeface="Arial"/>
              <a:buChar char="•"/>
            </a:pPr>
            <a:r>
              <a:rPr lang="en-US" sz="3000" spc="-18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Module 2: Segmentation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3000" spc="-18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module utilizes a hybrid TransUNet architecture to generate precise, pixel-perfect boundary masks of the lung nodules. By combining the global contextual awareness of Vision Transformers with a U-Net decoder and cross-network skip connections, it accurately maps the tumor's spatial extent.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11350333" cy="995056"/>
            <a:chOff x="0" y="0"/>
            <a:chExt cx="15133777" cy="1326742"/>
          </a:xfrm>
        </p:grpSpPr>
        <p:sp>
          <p:nvSpPr>
            <p:cNvPr name="AutoShape 3" id="3"/>
            <p:cNvSpPr/>
            <p:nvPr/>
          </p:nvSpPr>
          <p:spPr>
            <a:xfrm>
              <a:off x="0" y="1301342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15133777" cy="1024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Architecture Diagram (Proposed System)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92392" y="8725658"/>
            <a:ext cx="2695608" cy="633322"/>
            <a:chOff x="0" y="0"/>
            <a:chExt cx="709954" cy="1668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9954" cy="166801"/>
            </a:xfrm>
            <a:custGeom>
              <a:avLst/>
              <a:gdLst/>
              <a:ahLst/>
              <a:cxnLst/>
              <a:rect r="r" b="b" t="t" l="l"/>
              <a:pathLst>
                <a:path h="166801" w="709954">
                  <a:moveTo>
                    <a:pt x="0" y="0"/>
                  </a:moveTo>
                  <a:lnTo>
                    <a:pt x="709954" y="0"/>
                  </a:lnTo>
                  <a:lnTo>
                    <a:pt x="709954" y="166801"/>
                  </a:lnTo>
                  <a:lnTo>
                    <a:pt x="0" y="166801"/>
                  </a:lnTo>
                  <a:close/>
                </a:path>
              </a:pathLst>
            </a:custGeom>
            <a:solidFill>
              <a:srgbClr val="EBEA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09954" cy="204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159703"/>
            <a:ext cx="16940196" cy="467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15" indent="-323857" lvl="1">
              <a:lnSpc>
                <a:spcPts val="3000"/>
              </a:lnSpc>
              <a:buFont typeface="Arial"/>
              <a:buChar char="•"/>
            </a:pPr>
            <a:r>
              <a:rPr lang="en-US" sz="3000" spc="-18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Module 3: Classification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3000" spc="-18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isolated nodule patch is processed through a multi-modal consisting of a TransUNet, SimpleCNN and ResNet-18. The diverse morphological, textural, and global features are mathematically combined in a dense Fusion Gate to output a highly accurate malignancy probability.</a:t>
            </a:r>
          </a:p>
          <a:p>
            <a:pPr algn="l">
              <a:lnSpc>
                <a:spcPts val="3000"/>
              </a:lnSpc>
            </a:pPr>
          </a:p>
          <a:p>
            <a:pPr algn="l" marL="647715" indent="-323857" lvl="1">
              <a:lnSpc>
                <a:spcPts val="3000"/>
              </a:lnSpc>
              <a:buFont typeface="Arial"/>
              <a:buChar char="•"/>
            </a:pPr>
            <a:r>
              <a:rPr lang="en-US" sz="3000" spc="-18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Module 4: Prediction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3000" spc="-18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final diagnostic predictions are deployed through a robust Streamlit clinical dashboard that provides live Multi-Planar Reconstructions (Axial, Coronal, Sagittal). It overlays the AI-generated segmentation masks and provides mathematically scaled confidence intervals, ensuring transparent and interpretable clinical decision-making.</a:t>
            </a:r>
          </a:p>
          <a:p>
            <a:pPr algn="l">
              <a:lnSpc>
                <a:spcPts val="3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5968865" cy="1046851"/>
            <a:chOff x="0" y="0"/>
            <a:chExt cx="7958486" cy="1395801"/>
          </a:xfrm>
        </p:grpSpPr>
        <p:sp>
          <p:nvSpPr>
            <p:cNvPr name="AutoShape 3" id="3"/>
            <p:cNvSpPr/>
            <p:nvPr/>
          </p:nvSpPr>
          <p:spPr>
            <a:xfrm>
              <a:off x="0" y="1370401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7958486" cy="1024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Comparitive Analysis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199910"/>
            <a:ext cx="5968865" cy="2531123"/>
          </a:xfrm>
          <a:custGeom>
            <a:avLst/>
            <a:gdLst/>
            <a:ahLst/>
            <a:cxnLst/>
            <a:rect r="r" b="b" t="t" l="l"/>
            <a:pathLst>
              <a:path h="2531123" w="5968865">
                <a:moveTo>
                  <a:pt x="0" y="0"/>
                </a:moveTo>
                <a:lnTo>
                  <a:pt x="5968865" y="0"/>
                </a:lnTo>
                <a:lnTo>
                  <a:pt x="5968865" y="2531123"/>
                </a:lnTo>
                <a:lnTo>
                  <a:pt x="0" y="2531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338" b="-25814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78626" y="2199910"/>
            <a:ext cx="5631697" cy="5687082"/>
          </a:xfrm>
          <a:custGeom>
            <a:avLst/>
            <a:gdLst/>
            <a:ahLst/>
            <a:cxnLst/>
            <a:rect r="r" b="b" t="t" l="l"/>
            <a:pathLst>
              <a:path h="5687082" w="5631697">
                <a:moveTo>
                  <a:pt x="0" y="0"/>
                </a:moveTo>
                <a:lnTo>
                  <a:pt x="5631696" y="0"/>
                </a:lnTo>
                <a:lnTo>
                  <a:pt x="5631696" y="5687082"/>
                </a:lnTo>
                <a:lnTo>
                  <a:pt x="0" y="5687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177" r="-194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70901" y="1965021"/>
            <a:ext cx="7946198" cy="6356958"/>
          </a:xfrm>
          <a:custGeom>
            <a:avLst/>
            <a:gdLst/>
            <a:ahLst/>
            <a:cxnLst/>
            <a:rect r="r" b="b" t="t" l="l"/>
            <a:pathLst>
              <a:path h="6356958" w="7946198">
                <a:moveTo>
                  <a:pt x="0" y="0"/>
                </a:moveTo>
                <a:lnTo>
                  <a:pt x="7946198" y="0"/>
                </a:lnTo>
                <a:lnTo>
                  <a:pt x="794619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4809592" cy="1059054"/>
            <a:chOff x="0" y="0"/>
            <a:chExt cx="6412789" cy="1412072"/>
          </a:xfrm>
        </p:grpSpPr>
        <p:sp>
          <p:nvSpPr>
            <p:cNvPr name="AutoShape 3" id="3"/>
            <p:cNvSpPr/>
            <p:nvPr/>
          </p:nvSpPr>
          <p:spPr>
            <a:xfrm>
              <a:off x="0" y="1386672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6412789" cy="1024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Results (images)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72314" y="1883284"/>
            <a:ext cx="8343373" cy="3149623"/>
          </a:xfrm>
          <a:custGeom>
            <a:avLst/>
            <a:gdLst/>
            <a:ahLst/>
            <a:cxnLst/>
            <a:rect r="r" b="b" t="t" l="l"/>
            <a:pathLst>
              <a:path h="3149623" w="8343373">
                <a:moveTo>
                  <a:pt x="0" y="0"/>
                </a:moveTo>
                <a:lnTo>
                  <a:pt x="8343372" y="0"/>
                </a:lnTo>
                <a:lnTo>
                  <a:pt x="8343372" y="3149623"/>
                </a:lnTo>
                <a:lnTo>
                  <a:pt x="0" y="3149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72314" y="5801599"/>
            <a:ext cx="8343373" cy="3274774"/>
          </a:xfrm>
          <a:custGeom>
            <a:avLst/>
            <a:gdLst/>
            <a:ahLst/>
            <a:cxnLst/>
            <a:rect r="r" b="b" t="t" l="l"/>
            <a:pathLst>
              <a:path h="3274774" w="8343373">
                <a:moveTo>
                  <a:pt x="0" y="0"/>
                </a:moveTo>
                <a:lnTo>
                  <a:pt x="8343372" y="0"/>
                </a:lnTo>
                <a:lnTo>
                  <a:pt x="8343372" y="3274773"/>
                </a:lnTo>
                <a:lnTo>
                  <a:pt x="0" y="32747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860763" y="5231696"/>
            <a:ext cx="5022619" cy="39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2000" i="true" spc="-40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Fig. 1, GRAD-CAM Image of model’s prediction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87769" y="9276398"/>
            <a:ext cx="6312462" cy="39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2000" i="true" spc="-40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Fig. 2, Classic CT SCAN (Preprocessed) model’s prediction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4809592" cy="1059054"/>
            <a:chOff x="0" y="0"/>
            <a:chExt cx="6412789" cy="1412072"/>
          </a:xfrm>
        </p:grpSpPr>
        <p:sp>
          <p:nvSpPr>
            <p:cNvPr name="AutoShape 3" id="3"/>
            <p:cNvSpPr/>
            <p:nvPr/>
          </p:nvSpPr>
          <p:spPr>
            <a:xfrm>
              <a:off x="0" y="1386672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6412789" cy="1024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Results (images)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243617"/>
            <a:ext cx="15426261" cy="6883969"/>
          </a:xfrm>
          <a:custGeom>
            <a:avLst/>
            <a:gdLst/>
            <a:ahLst/>
            <a:cxnLst/>
            <a:rect r="r" b="b" t="t" l="l"/>
            <a:pathLst>
              <a:path h="6883969" w="15426261">
                <a:moveTo>
                  <a:pt x="0" y="0"/>
                </a:moveTo>
                <a:lnTo>
                  <a:pt x="15426261" y="0"/>
                </a:lnTo>
                <a:lnTo>
                  <a:pt x="15426261" y="6883969"/>
                </a:lnTo>
                <a:lnTo>
                  <a:pt x="0" y="68839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80090" y="9412606"/>
            <a:ext cx="1927820" cy="39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2000" i="true" spc="-40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Fig. 5, UI Interface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8526" y="853453"/>
            <a:ext cx="7250167" cy="1031665"/>
            <a:chOff x="0" y="0"/>
            <a:chExt cx="9666889" cy="1375553"/>
          </a:xfrm>
        </p:grpSpPr>
        <p:sp>
          <p:nvSpPr>
            <p:cNvPr name="AutoShape 3" id="3"/>
            <p:cNvSpPr/>
            <p:nvPr/>
          </p:nvSpPr>
          <p:spPr>
            <a:xfrm>
              <a:off x="0" y="1350153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9666889" cy="1024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Paper Publication (status)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180090" y="9412606"/>
            <a:ext cx="1927820" cy="39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2000" i="true" spc="-40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Fig. 5, UI Interface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38526" y="4200176"/>
            <a:ext cx="10449607" cy="5050755"/>
          </a:xfrm>
          <a:custGeom>
            <a:avLst/>
            <a:gdLst/>
            <a:ahLst/>
            <a:cxnLst/>
            <a:rect r="r" b="b" t="t" l="l"/>
            <a:pathLst>
              <a:path h="5050755" w="10449607">
                <a:moveTo>
                  <a:pt x="0" y="0"/>
                </a:moveTo>
                <a:lnTo>
                  <a:pt x="10449607" y="0"/>
                </a:lnTo>
                <a:lnTo>
                  <a:pt x="10449607" y="5050754"/>
                </a:lnTo>
                <a:lnTo>
                  <a:pt x="0" y="5050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9265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047043"/>
            <a:ext cx="16140294" cy="77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4277" indent="-242139" lvl="1">
              <a:lnSpc>
                <a:spcPts val="3140"/>
              </a:lnSpc>
              <a:buFont typeface="Arial"/>
              <a:buChar char="•"/>
            </a:pPr>
            <a:r>
              <a:rPr lang="en-US" b="true" sz="22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  <a:r>
              <a:rPr lang="en-US" b="true" sz="22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ubmitted a research paper to the International Conference on Computer Engineering and Technology (ICCET 2026), which has been successfully accepted for presentation/publication.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8526" y="853453"/>
            <a:ext cx="7250167" cy="1031665"/>
            <a:chOff x="0" y="0"/>
            <a:chExt cx="9666889" cy="1375553"/>
          </a:xfrm>
        </p:grpSpPr>
        <p:sp>
          <p:nvSpPr>
            <p:cNvPr name="AutoShape 3" id="3"/>
            <p:cNvSpPr/>
            <p:nvPr/>
          </p:nvSpPr>
          <p:spPr>
            <a:xfrm>
              <a:off x="0" y="1350153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9666889" cy="1024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Paper Publication (status)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047043"/>
            <a:ext cx="16140294" cy="11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0"/>
              </a:lnSpc>
            </a:pPr>
          </a:p>
          <a:p>
            <a:pPr algn="l" marL="484277" indent="-242139" lvl="1">
              <a:lnSpc>
                <a:spcPts val="3140"/>
              </a:lnSpc>
              <a:buFont typeface="Arial"/>
              <a:buChar char="•"/>
            </a:pPr>
            <a:r>
              <a:rPr lang="en-US" b="true" sz="22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Submitted another research paper to the International Conference on Computational Intelligence, Security and Systems (ICCISS’26) at Sona College of Technology, Salem, scheduled for March 13–14, 2026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38526" y="3990626"/>
            <a:ext cx="8655154" cy="6035236"/>
          </a:xfrm>
          <a:custGeom>
            <a:avLst/>
            <a:gdLst/>
            <a:ahLst/>
            <a:cxnLst/>
            <a:rect r="r" b="b" t="t" l="l"/>
            <a:pathLst>
              <a:path h="6035236" w="8655154">
                <a:moveTo>
                  <a:pt x="0" y="0"/>
                </a:moveTo>
                <a:lnTo>
                  <a:pt x="8655154" y="0"/>
                </a:lnTo>
                <a:lnTo>
                  <a:pt x="8655154" y="6035236"/>
                </a:lnTo>
                <a:lnTo>
                  <a:pt x="0" y="6035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699" r="0" b="-8200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8526" y="853453"/>
            <a:ext cx="7250167" cy="1031665"/>
            <a:chOff x="0" y="0"/>
            <a:chExt cx="9666889" cy="1375553"/>
          </a:xfrm>
        </p:grpSpPr>
        <p:sp>
          <p:nvSpPr>
            <p:cNvPr name="AutoShape 3" id="3"/>
            <p:cNvSpPr/>
            <p:nvPr/>
          </p:nvSpPr>
          <p:spPr>
            <a:xfrm>
              <a:off x="0" y="1350153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04775"/>
              <a:ext cx="9666889" cy="1024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Paper Publication (status)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09056" y="4080568"/>
            <a:ext cx="15633764" cy="4688775"/>
          </a:xfrm>
          <a:custGeom>
            <a:avLst/>
            <a:gdLst/>
            <a:ahLst/>
            <a:cxnLst/>
            <a:rect r="r" b="b" t="t" l="l"/>
            <a:pathLst>
              <a:path h="4688775" w="15633764">
                <a:moveTo>
                  <a:pt x="0" y="0"/>
                </a:moveTo>
                <a:lnTo>
                  <a:pt x="15633764" y="0"/>
                </a:lnTo>
                <a:lnTo>
                  <a:pt x="15633764" y="4688775"/>
                </a:lnTo>
                <a:lnTo>
                  <a:pt x="0" y="4688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505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047043"/>
            <a:ext cx="16140294" cy="11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0"/>
              </a:lnSpc>
            </a:pPr>
          </a:p>
          <a:p>
            <a:pPr algn="l" marL="484277" indent="-242139" lvl="1">
              <a:lnSpc>
                <a:spcPts val="3140"/>
              </a:lnSpc>
              <a:buFont typeface="Arial"/>
              <a:buChar char="•"/>
            </a:pPr>
            <a:r>
              <a:rPr lang="en-US" b="true" sz="22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Submitted another research paper to the International Conference on Computational Intelligence, Security and Systems (ICCISS’26) at Sona College of Technology, Salem, scheduled for March 13–14, 2026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86350" y="2305055"/>
            <a:ext cx="8115300" cy="305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sz="20000" i="true" spc="-1200">
                <a:solidFill>
                  <a:srgbClr val="00000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The</a:t>
            </a:r>
          </a:p>
        </p:txBody>
      </p:sp>
      <p:sp>
        <p:nvSpPr>
          <p:cNvPr name="AutoShape 3" id="3"/>
          <p:cNvSpPr/>
          <p:nvPr/>
        </p:nvSpPr>
        <p:spPr>
          <a:xfrm>
            <a:off x="8747934" y="6419856"/>
            <a:ext cx="792133" cy="0"/>
          </a:xfrm>
          <a:prstGeom prst="line">
            <a:avLst/>
          </a:prstGeom>
          <a:ln cap="rnd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086350" y="4559306"/>
            <a:ext cx="8115300" cy="1860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4000" spc="-84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DAHDvEjZpYs</dc:identifier>
  <dcterms:modified xsi:type="dcterms:W3CDTF">2011-08-01T06:04:30Z</dcterms:modified>
  <cp:revision>1</cp:revision>
  <dc:title>Project PPT (Team 3)</dc:title>
</cp:coreProperties>
</file>