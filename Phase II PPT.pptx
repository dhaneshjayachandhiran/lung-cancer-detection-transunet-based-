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lexandria Bold" charset="1" panose="00000000000000000000"/>
      <p:regular r:id="rId17"/>
    </p:embeddedFont>
    <p:embeddedFont>
      <p:font typeface="Alexandria" charset="1" panose="00000000000000000000"/>
      <p:regular r:id="rId18"/>
    </p:embeddedFont>
    <p:embeddedFont>
      <p:font typeface="Garet Bold" charset="1" panose="00000000000000000000"/>
      <p:regular r:id="rId19"/>
    </p:embeddedFont>
    <p:embeddedFont>
      <p:font typeface="Garet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0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0" y="0"/>
                </a:lnTo>
                <a:lnTo>
                  <a:pt x="4840370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7" y="0"/>
                </a:moveTo>
                <a:lnTo>
                  <a:pt x="0" y="0"/>
                </a:lnTo>
                <a:lnTo>
                  <a:pt x="0" y="7684967"/>
                </a:lnTo>
                <a:lnTo>
                  <a:pt x="7684967" y="7684967"/>
                </a:lnTo>
                <a:lnTo>
                  <a:pt x="768496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7" y="0"/>
                </a:moveTo>
                <a:lnTo>
                  <a:pt x="0" y="0"/>
                </a:lnTo>
                <a:lnTo>
                  <a:pt x="0" y="7684967"/>
                </a:lnTo>
                <a:lnTo>
                  <a:pt x="7684967" y="7684967"/>
                </a:lnTo>
                <a:lnTo>
                  <a:pt x="768496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8325" y="3350660"/>
            <a:ext cx="12951349" cy="335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8"/>
              </a:lnSpc>
            </a:pPr>
            <a:r>
              <a:rPr lang="en-US" sz="6206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DETECTING LUNG CANCER IN ITS EARLY STAGE USING DEEP LEARNING - TRANSUNET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32321" y="7516440"/>
            <a:ext cx="4753876" cy="194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817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BATCH - A03</a:t>
            </a:r>
          </a:p>
          <a:p>
            <a:pPr algn="l">
              <a:lnSpc>
                <a:spcPts val="2544"/>
              </a:lnSpc>
            </a:pPr>
            <a:r>
              <a:rPr lang="en-US" sz="1817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GUIDE : DR. V. RAMESH BABU</a:t>
            </a:r>
          </a:p>
          <a:p>
            <a:pPr algn="l">
              <a:lnSpc>
                <a:spcPts val="2544"/>
              </a:lnSpc>
            </a:pPr>
          </a:p>
          <a:p>
            <a:pPr algn="l">
              <a:lnSpc>
                <a:spcPts val="2544"/>
              </a:lnSpc>
            </a:pPr>
            <a:r>
              <a:rPr lang="en-US" sz="1817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PRESENTED BY,</a:t>
            </a:r>
          </a:p>
          <a:p>
            <a:pPr algn="l">
              <a:lnSpc>
                <a:spcPts val="2544"/>
              </a:lnSpc>
            </a:pPr>
            <a:r>
              <a:rPr lang="en-US" sz="1817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M AKASH KRISHNAN - 221191101006</a:t>
            </a:r>
          </a:p>
          <a:p>
            <a:pPr algn="l">
              <a:lnSpc>
                <a:spcPts val="2544"/>
              </a:lnSpc>
            </a:pPr>
            <a:r>
              <a:rPr lang="en-US" sz="1817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J DHANESH - 221191101035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64225" y="882561"/>
            <a:ext cx="6159550" cy="110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8"/>
              </a:lnSpc>
            </a:pPr>
            <a:r>
              <a:rPr lang="en-US" sz="31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DEPARTMENT OF DATASCIENCE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6652" y="9459417"/>
            <a:ext cx="11682366" cy="9525"/>
            <a:chOff x="0" y="0"/>
            <a:chExt cx="15576488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63552" y="1735417"/>
          <a:ext cx="17399000" cy="6743700"/>
        </p:xfrm>
        <a:graphic>
          <a:graphicData uri="http://schemas.openxmlformats.org/drawingml/2006/table">
            <a:tbl>
              <a:tblPr/>
              <a:tblGrid>
                <a:gridCol w="3479800"/>
                <a:gridCol w="3479800"/>
                <a:gridCol w="3479800"/>
                <a:gridCol w="3479800"/>
                <a:gridCol w="3479800"/>
              </a:tblGrid>
              <a:tr h="20538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Paper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Problem Statement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Proposed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3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hybrid CNN-transformer model for predicting N staging and prognosis of NSCLC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Accuracy problems arise due to the difference of specializations of the models.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Analyzes 80+ models for detection and segmentation using CT data.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Emphasizes need for unified, interpretable systems like TransUNet; no benchmarked comparisons yet available.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85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Du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al-branch feature fusion S3D V-Net network for lung nodules segmentation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Poor generalization and black-box behavior limit clinical trust in AI models.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Reviews multimodal and attention-driven models for early-stage lung cancer detection.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Explainable segmentation + classification models like TransUNet are missing; no visual AI support discussed.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35675" y="103854"/>
            <a:ext cx="12501560" cy="15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LITRERATURE SURVEY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9352" y="9813507"/>
            <a:ext cx="11682366" cy="9525"/>
            <a:chOff x="0" y="0"/>
            <a:chExt cx="15576488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61440" y="1251200"/>
          <a:ext cx="17653000" cy="8178800"/>
        </p:xfrm>
        <a:graphic>
          <a:graphicData uri="http://schemas.openxmlformats.org/drawingml/2006/table">
            <a:tbl>
              <a:tblPr/>
              <a:tblGrid>
                <a:gridCol w="3530600"/>
                <a:gridCol w="3530600"/>
                <a:gridCol w="3530600"/>
                <a:gridCol w="3530600"/>
                <a:gridCol w="3530600"/>
              </a:tblGrid>
              <a:tr h="16023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Paper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Problem Statement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Proposed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93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 multi-task model for p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ulmonary nodule segmentation and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Separate handling of segmentation and classification limits system efficiency.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Surveys models across all three stages: detection, segmentation, and classification.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Few models perform end-to-end dual tasks with interpretability; no detailed TransUNet integration.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57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8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Fu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sion networks of CNN and transformer with channel attention for lung nodule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CNNs lack long-range context for precise nodule detection in CT scans.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Explores Vision Transformers (ViT, Swin) for classification and attention learning in lung CTs.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No unified segmentation-classification pipeline; hybrid models like TransUNet are not explored.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1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Accurate classification of lung nodules on CT images using the TransUnet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Manual CT analysis is time-consuming and inconsistent, delaying diagnosis.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Reviews CNN/U-Net-based models for lung cancer segmentation and classification.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Lacks coverage of Transformer-CNN hybrids like TransUNet; segmentation and classification not integrated.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61440" y="-293692"/>
            <a:ext cx="12501560" cy="15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LITRERATURE SURVEY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87726" y="928796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33830"/>
            <a:ext cx="12717885" cy="15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11426"/>
            <a:ext cx="16587119" cy="677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2308" indent="-210769" lvl="2">
              <a:lnSpc>
                <a:spcPts val="3869"/>
              </a:lnSpc>
              <a:buFont typeface="Arial"/>
              <a:buChar char="⚬"/>
            </a:pPr>
            <a:r>
              <a:rPr lang="en-US" sz="276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Lung cancer is the leading cause of cancer-related deaths, largely due to late-stage diagnosis.</a:t>
            </a:r>
          </a:p>
          <a:p>
            <a:pPr algn="l" marL="632308" indent="-210769" lvl="2">
              <a:lnSpc>
                <a:spcPts val="3869"/>
              </a:lnSpc>
              <a:buFont typeface="Arial"/>
              <a:buChar char="⚬"/>
            </a:pPr>
            <a:r>
              <a:rPr lang="en-US" sz="276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Although 3D CT scans are effective for early detection, manual interpretation of massive spatial volumes is slow, prone to cognitive fatigue, and varies between radiologists.</a:t>
            </a:r>
          </a:p>
          <a:p>
            <a:pPr algn="l" marL="632308" indent="-210769" lvl="2">
              <a:lnSpc>
                <a:spcPts val="3869"/>
              </a:lnSpc>
              <a:buFont typeface="Arial"/>
              <a:buChar char="⚬"/>
            </a:pPr>
            <a:r>
              <a:rPr lang="en-US" sz="276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Existing AI models often struggle with either fine-grained local texture analysis or the global contextual understanding needed for highly accurate diagnosis.</a:t>
            </a:r>
          </a:p>
          <a:p>
            <a:pPr algn="l" marL="632308" indent="-210769" lvl="2">
              <a:lnSpc>
                <a:spcPts val="3869"/>
              </a:lnSpc>
              <a:buFont typeface="Arial"/>
              <a:buChar char="⚬"/>
            </a:pPr>
            <a:r>
              <a:rPr lang="en-US" sz="276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There's a lack of explainable, multi-modal ensemble models—combining CNNs, ResNets, and Vision Transformers—that can perform both pixel-perfect segmentation and precise classification of lung nodules in a clinically meaningful way.</a:t>
            </a:r>
          </a:p>
          <a:p>
            <a:pPr algn="l" marL="632308" indent="-210769" lvl="2">
              <a:lnSpc>
                <a:spcPts val="3869"/>
              </a:lnSpc>
              <a:buFont typeface="Arial"/>
              <a:buChar char="⚬"/>
            </a:pPr>
            <a:r>
              <a:rPr lang="en-US" sz="276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robust, automated, and interpretable clinical dashboard is needed to assist radiologists in detecting early-stage lung cancer with high baseline precision, rapid computational speed, and absolute diagnostic transparency.</a:t>
            </a:r>
          </a:p>
          <a:p>
            <a:pPr algn="l" marL="632333" indent="-210778" lvl="2">
              <a:lnSpc>
                <a:spcPts val="3872"/>
              </a:lnSpc>
              <a:buFont typeface="Arial"/>
              <a:buChar char="⚬"/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6652" y="9459417"/>
            <a:ext cx="11682366" cy="9525"/>
            <a:chOff x="0" y="0"/>
            <a:chExt cx="15576488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6577" y="1122285"/>
            <a:ext cx="10711279" cy="15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8"/>
              </a:lnSpc>
            </a:pPr>
            <a:r>
              <a:rPr lang="en-US" sz="81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EXISTING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24205"/>
            <a:ext cx="15533672" cy="612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8207" indent="-179402" lvl="2">
              <a:lnSpc>
                <a:spcPts val="3295"/>
              </a:lnSpc>
              <a:buFont typeface="Arial"/>
              <a:buChar char="⚬"/>
            </a:pPr>
            <a:r>
              <a:rPr lang="en-US" sz="23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Traditional diagnosis of lung cancer relies on manual evaluation of massive volumetric CT scans by radiologists, which is time-intensive and prone to human error.</a:t>
            </a:r>
          </a:p>
          <a:p>
            <a:pPr algn="l" marL="538207" indent="-179402" lvl="2">
              <a:lnSpc>
                <a:spcPts val="3295"/>
              </a:lnSpc>
              <a:buFont typeface="Arial"/>
              <a:buChar char="⚬"/>
            </a:pPr>
            <a:r>
              <a:rPr lang="en-US" sz="23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Conventional machine learning models require hand-crafted features and lack the ability to automatically extract deep, complex spatial hierarchies and edge morphology across diverse patient data.</a:t>
            </a:r>
          </a:p>
          <a:p>
            <a:pPr algn="l" marL="538207" indent="-179402" lvl="2">
              <a:lnSpc>
                <a:spcPts val="3295"/>
              </a:lnSpc>
              <a:buFont typeface="Arial"/>
              <a:buChar char="⚬"/>
            </a:pPr>
            <a:r>
              <a:rPr lang="en-US" sz="23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Standard 2D and 3D CNN-based segmentation models (like U-Net) can detect lung nodules but often fail to capture the global context and long-range dependencies that Vision Transformers (ViTs) successfully resolve.</a:t>
            </a:r>
          </a:p>
          <a:p>
            <a:pPr algn="l" marL="538207" indent="-179402" lvl="2">
              <a:lnSpc>
                <a:spcPts val="3295"/>
              </a:lnSpc>
              <a:buFont typeface="Arial"/>
              <a:buChar char="⚬"/>
            </a:pPr>
            <a:r>
              <a:rPr lang="en-US" sz="23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Classification and segmentation are often handled separately, leading to disjointed pipelines and a lack of unified, dual-task ensemble models that can simultaneously predict malignancy and generate pixel-perfect boundary masks.</a:t>
            </a:r>
          </a:p>
          <a:p>
            <a:pPr algn="l" marL="538207" indent="-179402" lvl="2">
              <a:lnSpc>
                <a:spcPts val="3295"/>
              </a:lnSpc>
              <a:buFont typeface="Arial"/>
              <a:buChar char="⚬"/>
            </a:pPr>
            <a:r>
              <a:rPr lang="en-US" sz="23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Few existing systems provide visual explanations or trustworthy AI outputs, creating a critical need for an interpretable clinical dashboard that delivers multi-planar reconstructions, exact segmentation overlays, and sensible confidence scaling for radiologists.</a:t>
            </a:r>
          </a:p>
          <a:p>
            <a:pPr algn="l" marL="538207" indent="-179402" lvl="2">
              <a:lnSpc>
                <a:spcPts val="329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6652" y="9459417"/>
            <a:ext cx="11682366" cy="9525"/>
            <a:chOff x="0" y="0"/>
            <a:chExt cx="15576488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8431" y="367577"/>
            <a:ext cx="15144357" cy="223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8"/>
              </a:lnSpc>
            </a:pPr>
            <a:r>
              <a:rPr lang="en-US" sz="81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REQUIREMENT ANALYSIS</a:t>
            </a:r>
          </a:p>
          <a:p>
            <a:pPr algn="l">
              <a:lnSpc>
                <a:spcPts val="5008"/>
              </a:lnSpc>
            </a:pPr>
            <a:r>
              <a:rPr lang="en-US" sz="35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SOFTWARE &amp; HARDWARE REQUIREMENTS: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536652" y="9459417"/>
            <a:ext cx="11682366" cy="9525"/>
            <a:chOff x="0" y="0"/>
            <a:chExt cx="15576488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8431" y="3085433"/>
            <a:ext cx="15533672" cy="3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522" indent="-217507" lvl="2">
              <a:lnSpc>
                <a:spcPts val="3996"/>
              </a:lnSpc>
              <a:buFont typeface="Arial"/>
              <a:buChar char="⚬"/>
            </a:pPr>
            <a:r>
              <a:rPr lang="en-US" b="true" sz="285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High performance multiple cloud Gpu’s</a:t>
            </a:r>
          </a:p>
          <a:p>
            <a:pPr algn="l" marL="652522" indent="-217507" lvl="2">
              <a:lnSpc>
                <a:spcPts val="3996"/>
              </a:lnSpc>
            </a:pPr>
            <a:r>
              <a:rPr lang="en-US" sz="28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powerful cloud Gpu (higher end Gpu) are needed to run the model                   since the Transunet model consume system resource compared to other models.</a:t>
            </a:r>
          </a:p>
          <a:p>
            <a:pPr algn="l" marL="652522" indent="-217507" lvl="2">
              <a:lnSpc>
                <a:spcPts val="3996"/>
              </a:lnSpc>
            </a:pPr>
          </a:p>
          <a:p>
            <a:pPr algn="l" marL="652522" indent="-217507" lvl="2">
              <a:lnSpc>
                <a:spcPts val="3996"/>
              </a:lnSpc>
              <a:buFont typeface="Arial"/>
              <a:buChar char="⚬"/>
            </a:pPr>
            <a:r>
              <a:rPr lang="en-US" b="true" sz="285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Storage for multiple large datasets</a:t>
            </a:r>
          </a:p>
          <a:p>
            <a:pPr algn="l" marL="652522" indent="-217507" lvl="2">
              <a:lnSpc>
                <a:spcPts val="3996"/>
              </a:lnSpc>
            </a:pPr>
            <a:r>
              <a:rPr lang="en-US" sz="28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Since the model needs heavy system resource, a manageable storage enough to stack up the datasets that is required to train the model.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84966"/>
            <a:ext cx="13325658" cy="15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8"/>
              </a:lnSpc>
            </a:pPr>
            <a:r>
              <a:rPr lang="en-US" sz="81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DESIGN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78843"/>
            <a:ext cx="14531678" cy="641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446" indent="-265723" lvl="1">
              <a:lnSpc>
                <a:spcPts val="3446"/>
              </a:lnSpc>
              <a:buFont typeface="Arial"/>
              <a:buChar char="•"/>
            </a:pPr>
            <a:r>
              <a:rPr lang="en-US" b="true" sz="24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Collection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globally recognized LUNA16 dataset will be used, utilizing massive 3D CT scans (.mhd format) and precise coordinate mapping via metadata.</a:t>
            </a:r>
          </a:p>
          <a:p>
            <a:pPr algn="l" marL="531446" indent="-265723" lvl="1">
              <a:lnSpc>
                <a:spcPts val="3446"/>
              </a:lnSpc>
              <a:buFont typeface="Arial"/>
              <a:buChar char="•"/>
            </a:pPr>
            <a:r>
              <a:rPr lang="en-US" b="true" sz="24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Preprocessing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World-to-voxel coordinate translation via SimpleITK, extraction of highly localized 16x64x64 3D patches, and zero-mean/unit-variance normalization. </a:t>
            </a:r>
          </a:p>
          <a:p>
            <a:pPr algn="l" marL="531446" indent="-265723" lvl="1">
              <a:lnSpc>
                <a:spcPts val="3446"/>
              </a:lnSpc>
              <a:buFont typeface="Arial"/>
              <a:buChar char="•"/>
            </a:pPr>
            <a:r>
              <a:rPr lang="en-US" b="true" sz="24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Segmentation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Generation of pixel-perfect boundary masks utilizing the TransUNet's Vision Transformers and UNet decoder, enhanced by cross-network skip connections.</a:t>
            </a:r>
          </a:p>
          <a:p>
            <a:pPr algn="l" marL="531446" indent="-265723" lvl="1">
              <a:lnSpc>
                <a:spcPts val="3446"/>
              </a:lnSpc>
              <a:buFont typeface="Arial"/>
              <a:buChar char="•"/>
            </a:pPr>
            <a:r>
              <a:rPr lang="en-US" b="true" sz="24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Classification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Processing the localized patches through the Ensemble method (TransUNet, SimpleCNN, and ResNet-18) unified by a dense Fusion Gate for exact malignancy prediction. </a:t>
            </a:r>
          </a:p>
          <a:p>
            <a:pPr algn="l" marL="531446" indent="-265723" lvl="1">
              <a:lnSpc>
                <a:spcPts val="3446"/>
              </a:lnSpc>
              <a:buFont typeface="Arial"/>
              <a:buChar char="•"/>
            </a:pPr>
            <a:r>
              <a:rPr lang="en-US" b="true" sz="24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Evaluation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Rigorous baseline evaluation of the SCRATCH_FINAL model using critical clinical metrics such as Accuracy, ROC-AUC, Precision, Recall (Sensitivity), and Mean Dice Score. </a:t>
            </a:r>
          </a:p>
          <a:p>
            <a:pPr algn="l" marL="531448" indent="-265724" lvl="1">
              <a:lnSpc>
                <a:spcPts val="3446"/>
              </a:lnSpc>
              <a:buFont typeface="Arial"/>
              <a:buChar char="•"/>
            </a:pPr>
            <a:r>
              <a:rPr lang="en-US" b="true" sz="246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Explainability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46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Deployment via a Streamlit clinical dashboard featuring Multi-Planar Reconstructions (axial, coronal, sagittal) and direct segmentation mask overlays to visually prove the AI's diagnostic focus.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6652" y="9459417"/>
            <a:ext cx="11682366" cy="9525"/>
            <a:chOff x="0" y="0"/>
            <a:chExt cx="15576488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36652" y="9459417"/>
            <a:ext cx="11682366" cy="9525"/>
            <a:chOff x="0" y="0"/>
            <a:chExt cx="15576488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911982"/>
            <a:ext cx="18288000" cy="8046720"/>
            <a:chOff x="0" y="0"/>
            <a:chExt cx="24384000" cy="10728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728960"/>
                  </a:lnTo>
                  <a:lnTo>
                    <a:pt x="0" y="1072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5" t="0" r="-55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007526" y="8562349"/>
            <a:ext cx="2503548" cy="914762"/>
          </a:xfrm>
          <a:custGeom>
            <a:avLst/>
            <a:gdLst/>
            <a:ahLst/>
            <a:cxnLst/>
            <a:rect r="r" b="b" t="t" l="l"/>
            <a:pathLst>
              <a:path h="914762" w="2503548">
                <a:moveTo>
                  <a:pt x="0" y="0"/>
                </a:moveTo>
                <a:lnTo>
                  <a:pt x="2503548" y="0"/>
                </a:lnTo>
                <a:lnTo>
                  <a:pt x="2503548" y="914762"/>
                </a:lnTo>
                <a:lnTo>
                  <a:pt x="0" y="914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42116"/>
            <a:ext cx="16607841" cy="116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8"/>
              </a:lnSpc>
            </a:pPr>
            <a:r>
              <a:rPr lang="en-US" sz="60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ARCHITECTURE OF PROPOSED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359" y="1083795"/>
            <a:ext cx="17488773" cy="116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8"/>
              </a:lnSpc>
            </a:pPr>
            <a:r>
              <a:rPr lang="en-US" sz="60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MODULES OF PROPOSED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359" y="2348298"/>
            <a:ext cx="16231759" cy="633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810" indent="-160937" lvl="2">
              <a:lnSpc>
                <a:spcPts val="2956"/>
              </a:lnSpc>
              <a:buFont typeface="Arial"/>
              <a:buChar char="⚬"/>
            </a:pPr>
            <a:r>
              <a:rPr lang="en-US" b="true" sz="21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Phase 1: Data Collection &amp; Preprocessing – (Week 1 - 2) </a:t>
            </a:r>
          </a:p>
          <a:p>
            <a:pPr algn="l" marL="482810" indent="-160937" lvl="2">
              <a:lnSpc>
                <a:spcPts val="2956"/>
              </a:lnSpc>
            </a:pP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Gather CT scan datasets (e.g., LIDC-IDRI and other public sources) and curate them into training, validation, and testing sets. </a:t>
            </a:r>
          </a:p>
          <a:p>
            <a:pPr algn="l" marL="482810" indent="-160937" lvl="2">
              <a:lnSpc>
                <a:spcPts val="2956"/>
              </a:lnSpc>
            </a:pP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Apply preprocessing steps like normalization, resizing and segmentation of lung regions to ensure data consistency. </a:t>
            </a:r>
          </a:p>
          <a:p>
            <a:pPr algn="l" marL="482810" indent="-160937" lvl="2">
              <a:lnSpc>
                <a:spcPts val="2956"/>
              </a:lnSpc>
              <a:buFont typeface="Arial"/>
              <a:buChar char="⚬"/>
            </a:pPr>
            <a:r>
              <a:rPr lang="en-US" b="true" sz="21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Phase 2: Model building &amp; Evaluation – (Week 3 – 6) </a:t>
            </a:r>
          </a:p>
          <a:p>
            <a:pPr algn="l" marL="482810" indent="-160937" lvl="2">
              <a:lnSpc>
                <a:spcPts val="2956"/>
              </a:lnSpc>
            </a:pP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 TransUNet to leverage both CNN and Transformer encoders for accurate lung nodule segmentation and cancer classification. </a:t>
            </a:r>
          </a:p>
          <a:p>
            <a:pPr algn="l" marL="482810" indent="-160937" lvl="2">
              <a:lnSpc>
                <a:spcPts val="2956"/>
              </a:lnSpc>
            </a:pP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Evaluate both models using metrics such as Dice score (for segmentation), accuracy, precision, recall, F1-score, and ROC-AUC (for classification). </a:t>
            </a:r>
          </a:p>
          <a:p>
            <a:pPr algn="l" marL="482810" indent="-160937" lvl="2">
              <a:lnSpc>
                <a:spcPts val="2956"/>
              </a:lnSpc>
              <a:buFont typeface="Arial"/>
              <a:buChar char="⚬"/>
            </a:pPr>
            <a:r>
              <a:rPr lang="en-US" b="true" sz="21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Phase 3: Explainability Integration with Grad-CAM – (Week 7 – 8)</a:t>
            </a: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 marL="482810" indent="-160937" lvl="2">
              <a:lnSpc>
                <a:spcPts val="2956"/>
              </a:lnSpc>
            </a:pP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Integrate Grad-CAM to visualize attention maps from the Transformer layers, showing critical regions influencing predictions. </a:t>
            </a:r>
          </a:p>
          <a:p>
            <a:pPr algn="l" marL="482810" indent="-160937" lvl="2">
              <a:lnSpc>
                <a:spcPts val="2956"/>
              </a:lnSpc>
            </a:pP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Validate explanations by comparing attention maps with expert radiologist annotations for interpretability and trust.</a:t>
            </a:r>
          </a:p>
          <a:p>
            <a:pPr algn="l" marL="482810" indent="-160937" lvl="2">
              <a:lnSpc>
                <a:spcPts val="2956"/>
              </a:lnSpc>
              <a:buFont typeface="Arial"/>
              <a:buChar char="⚬"/>
            </a:pPr>
            <a:r>
              <a:rPr lang="en-US" b="true" sz="211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Phase 4: Documentation &amp; Preparation – (Week 9 – 10) </a:t>
            </a:r>
          </a:p>
          <a:p>
            <a:pPr algn="l" marL="482810" indent="-160937" lvl="2">
              <a:lnSpc>
                <a:spcPts val="2956"/>
              </a:lnSpc>
            </a:pP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Compile results, visualizations (segmentation masks, attention maps, Grad-CAM outputs), and performance comparisons into well-structured documentation. </a:t>
            </a:r>
          </a:p>
          <a:p>
            <a:pPr algn="l" marL="482810" indent="-160937" lvl="2">
              <a:lnSpc>
                <a:spcPts val="2956"/>
              </a:lnSpc>
            </a:pPr>
            <a:r>
              <a:rPr lang="en-US" sz="211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Prepare reports, presentations, and possible Conference material for academic or professional submission.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6652" y="9459417"/>
            <a:ext cx="11682366" cy="9525"/>
            <a:chOff x="0" y="0"/>
            <a:chExt cx="15576488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34341"/>
            <a:ext cx="15185556" cy="83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7"/>
              </a:lnSpc>
            </a:pPr>
            <a:r>
              <a:rPr lang="en-US" sz="43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TECHNOLOGIES TO BE USED IN PROPOSED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75075"/>
            <a:ext cx="15511353" cy="665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544" indent="-194181" lvl="2">
              <a:lnSpc>
                <a:spcPts val="4102"/>
              </a:lnSpc>
              <a:buFont typeface="Arial"/>
              <a:buChar char="⚬"/>
            </a:pPr>
            <a:r>
              <a:rPr lang="en-US" b="true" sz="254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Preprocessing of CT Scans:</a:t>
            </a:r>
            <a:r>
              <a:rPr lang="en-US" sz="254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CT scan slices are normalized and enhanced to improve visibility of potential lung nodules for downstream processing.</a:t>
            </a:r>
          </a:p>
          <a:p>
            <a:pPr algn="just" marL="582544" indent="-194181" lvl="2">
              <a:lnSpc>
                <a:spcPts val="4102"/>
              </a:lnSpc>
              <a:buFont typeface="Arial"/>
              <a:buChar char="⚬"/>
            </a:pPr>
            <a:r>
              <a:rPr lang="en-US" b="true" sz="254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Lung Nodule Segmentation using TransUNet:</a:t>
            </a:r>
            <a:r>
              <a:rPr lang="en-US" sz="254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 hybrid ensemble model is used to perform accurate semantic segmentation, combining the spatial precision of U-Net structures with the global context learning of Transformers.</a:t>
            </a:r>
          </a:p>
          <a:p>
            <a:pPr algn="just" marL="582544" indent="-194181" lvl="2">
              <a:lnSpc>
                <a:spcPts val="4102"/>
              </a:lnSpc>
              <a:buFont typeface="Arial"/>
              <a:buChar char="⚬"/>
            </a:pPr>
            <a:r>
              <a:rPr lang="en-US" b="true" sz="254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Nodule Classification:</a:t>
            </a:r>
            <a:r>
              <a:rPr lang="en-US" sz="254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segmented region is classified as benign or malignant by analyzing both fine-grained local features and global patterns learned from the image.</a:t>
            </a:r>
          </a:p>
          <a:p>
            <a:pPr algn="just" marL="582544" indent="-194181" lvl="2">
              <a:lnSpc>
                <a:spcPts val="4102"/>
              </a:lnSpc>
              <a:buFont typeface="Arial"/>
              <a:buChar char="⚬"/>
            </a:pPr>
            <a:r>
              <a:rPr lang="en-US" b="true" sz="254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Evaluation:</a:t>
            </a:r>
            <a:r>
              <a:rPr lang="en-US" sz="254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system is evaluated using metrics such as Dice Score (for segmentation), and Accuracy, Sensitivity, Specificity, and ROC-AUC (for classification).</a:t>
            </a:r>
          </a:p>
          <a:p>
            <a:pPr algn="just" marL="582544" indent="-194181" lvl="2">
              <a:lnSpc>
                <a:spcPts val="4102"/>
              </a:lnSpc>
              <a:buFont typeface="Arial"/>
              <a:buChar char="⚬"/>
            </a:pPr>
            <a:r>
              <a:rPr lang="en-US" b="true" sz="254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Clinical Decision Support:</a:t>
            </a:r>
            <a:r>
              <a:rPr lang="en-US" sz="254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system provides visual and interpretable outputs to support radiologists in early diagnosis, ensuring faster and more consistent clinical decisions.</a:t>
            </a:r>
          </a:p>
          <a:p>
            <a:pPr algn="just" marL="582544" indent="-194181" lvl="2">
              <a:lnSpc>
                <a:spcPts val="4102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" t="0" r="-4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6652" y="9459417"/>
            <a:ext cx="11682366" cy="9525"/>
            <a:chOff x="0" y="0"/>
            <a:chExt cx="15576488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0"/>
              <a:ext cx="15563850" cy="12700"/>
            </a:xfrm>
            <a:custGeom>
              <a:avLst/>
              <a:gdLst/>
              <a:ahLst/>
              <a:cxnLst/>
              <a:rect r="r" b="b" t="t" l="l"/>
              <a:pathLst>
                <a:path h="12700" w="15563850">
                  <a:moveTo>
                    <a:pt x="0" y="0"/>
                  </a:moveTo>
                  <a:lnTo>
                    <a:pt x="15563850" y="0"/>
                  </a:lnTo>
                  <a:lnTo>
                    <a:pt x="1556385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545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857082"/>
            <a:ext cx="11174689" cy="5401218"/>
          </a:xfrm>
          <a:custGeom>
            <a:avLst/>
            <a:gdLst/>
            <a:ahLst/>
            <a:cxnLst/>
            <a:rect r="r" b="b" t="t" l="l"/>
            <a:pathLst>
              <a:path h="5401218" w="11174689">
                <a:moveTo>
                  <a:pt x="0" y="0"/>
                </a:moveTo>
                <a:lnTo>
                  <a:pt x="11174689" y="0"/>
                </a:lnTo>
                <a:lnTo>
                  <a:pt x="11174689" y="5401218"/>
                </a:lnTo>
                <a:lnTo>
                  <a:pt x="0" y="5401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9265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27360"/>
            <a:ext cx="6509312" cy="74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7"/>
              </a:lnSpc>
            </a:pPr>
            <a:r>
              <a:rPr lang="en-US" sz="4377" b="true">
                <a:solidFill>
                  <a:srgbClr val="000000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PAPER PUBLICATION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8933878"/>
            <a:ext cx="1271574" cy="88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656745"/>
            <a:ext cx="16140294" cy="194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277" indent="-242139" lvl="1">
              <a:lnSpc>
                <a:spcPts val="3140"/>
              </a:lnSpc>
              <a:buFont typeface="Arial"/>
              <a:buChar char="•"/>
            </a:pPr>
            <a:r>
              <a:rPr lang="en-US" b="true" sz="2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2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ubmitted a research paper to the International Conference on Computer Engineering and Technology (ICCET 2026), which has been successfully accepted for presentation/publication.</a:t>
            </a:r>
          </a:p>
          <a:p>
            <a:pPr algn="l">
              <a:lnSpc>
                <a:spcPts val="3140"/>
              </a:lnSpc>
            </a:pPr>
          </a:p>
          <a:p>
            <a:pPr algn="l" marL="484277" indent="-242139" lvl="1">
              <a:lnSpc>
                <a:spcPts val="3140"/>
              </a:lnSpc>
              <a:buFont typeface="Arial"/>
              <a:buChar char="•"/>
            </a:pPr>
            <a:r>
              <a:rPr lang="en-US" b="true" sz="2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Submitted another research paper to the International Conference on Computational Intelligence, Security and Systems (ICCISS’26) at Sona College of Technology, Salem, scheduled for March 13–14,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DAG3X-_JqpQ</dc:identifier>
  <dcterms:modified xsi:type="dcterms:W3CDTF">2011-08-01T06:04:30Z</dcterms:modified>
  <cp:revision>1</cp:revision>
  <dc:title>Lung_cancer.pptx</dc:title>
</cp:coreProperties>
</file>