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GFS Artemisia Italics" charset="1" panose="02000503000000090003"/>
      <p:regular r:id="rId19"/>
    </p:embeddedFont>
    <p:embeddedFont>
      <p:font typeface="Helvetica World" charset="1" panose="020B0500040000020004"/>
      <p:regular r:id="rId20"/>
    </p:embeddedFont>
    <p:embeddedFont>
      <p:font typeface="Open Sauce" charset="1" panose="00000500000000000000"/>
      <p:regular r:id="rId21"/>
    </p:embeddedFont>
    <p:embeddedFont>
      <p:font typeface="Helvetica World Bold" charset="1" panose="020B0800040000020004"/>
      <p:regular r:id="rId22"/>
    </p:embeddedFont>
    <p:embeddedFont>
      <p:font typeface="Helvetica World Italics" charset="1" panose="020B0500040000090004"/>
      <p:regular r:id="rId23"/>
    </p:embeddedFont>
    <p:embeddedFont>
      <p:font typeface="Times New Roman Italics" charset="1" panose="02020503050405090304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Relationship Id="rId3" Target="../media/image6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EBE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768319" y="3624377"/>
            <a:ext cx="10751363" cy="1690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24"/>
              </a:lnSpc>
            </a:pPr>
            <a:r>
              <a:rPr lang="en-US" sz="6623" i="true" spc="-397">
                <a:solidFill>
                  <a:srgbClr val="000000"/>
                </a:solidFill>
                <a:latin typeface="GFS Artemisia Italics"/>
                <a:ea typeface="GFS Artemisia Italics"/>
                <a:cs typeface="GFS Artemisia Italics"/>
                <a:sym typeface="GFS Artemisia Italics"/>
              </a:rPr>
              <a:t>Lung cancer Detection in its early stage using TransUNet.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3035886" y="7611408"/>
            <a:ext cx="3444507" cy="14462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40"/>
              </a:lnSpc>
            </a:pPr>
            <a:r>
              <a:rPr lang="en-US" sz="3391" spc="-202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Presented by, </a:t>
            </a:r>
          </a:p>
          <a:p>
            <a:pPr algn="l">
              <a:lnSpc>
                <a:spcPts val="3221"/>
              </a:lnSpc>
            </a:pPr>
            <a:r>
              <a:rPr lang="en-US" sz="3391" spc="-202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 Akash Krishnan</a:t>
            </a:r>
          </a:p>
          <a:p>
            <a:pPr algn="l">
              <a:lnSpc>
                <a:spcPts val="3221"/>
              </a:lnSpc>
            </a:pPr>
            <a:r>
              <a:rPr lang="en-US" sz="3391" spc="-202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 Dhanesh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728881" y="6400810"/>
            <a:ext cx="830237" cy="38100"/>
            <a:chOff x="0" y="0"/>
            <a:chExt cx="1106983" cy="50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06932" cy="50800"/>
            </a:xfrm>
            <a:custGeom>
              <a:avLst/>
              <a:gdLst/>
              <a:ahLst/>
              <a:cxnLst/>
              <a:rect r="r" b="b" t="t" l="l"/>
              <a:pathLst>
                <a:path h="50800" w="1106932">
                  <a:moveTo>
                    <a:pt x="25400" y="0"/>
                  </a:moveTo>
                  <a:lnTo>
                    <a:pt x="1081532" y="0"/>
                  </a:lnTo>
                  <a:cubicBezTo>
                    <a:pt x="1095502" y="0"/>
                    <a:pt x="1106932" y="11430"/>
                    <a:pt x="1106932" y="25400"/>
                  </a:cubicBezTo>
                  <a:cubicBezTo>
                    <a:pt x="1106932" y="39370"/>
                    <a:pt x="1095502" y="50800"/>
                    <a:pt x="1081532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C07A35"/>
            </a:solid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EBE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9650" y="1989992"/>
            <a:ext cx="830237" cy="38100"/>
            <a:chOff x="0" y="0"/>
            <a:chExt cx="1106983" cy="5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23950" cy="67691"/>
            </a:xfrm>
            <a:custGeom>
              <a:avLst/>
              <a:gdLst/>
              <a:ahLst/>
              <a:cxnLst/>
              <a:rect r="r" b="b" t="t" l="l"/>
              <a:pathLst>
                <a:path h="67691" w="1123950">
                  <a:moveTo>
                    <a:pt x="33909" y="0"/>
                  </a:moveTo>
                  <a:lnTo>
                    <a:pt x="1090041" y="0"/>
                  </a:lnTo>
                  <a:cubicBezTo>
                    <a:pt x="1108710" y="0"/>
                    <a:pt x="1123950" y="15113"/>
                    <a:pt x="1123950" y="33909"/>
                  </a:cubicBezTo>
                  <a:cubicBezTo>
                    <a:pt x="1123950" y="52705"/>
                    <a:pt x="1108710" y="67691"/>
                    <a:pt x="1090041" y="67691"/>
                  </a:cubicBezTo>
                  <a:lnTo>
                    <a:pt x="33909" y="67691"/>
                  </a:lnTo>
                  <a:cubicBezTo>
                    <a:pt x="15113" y="67691"/>
                    <a:pt x="0" y="52578"/>
                    <a:pt x="0" y="33909"/>
                  </a:cubicBezTo>
                  <a:cubicBezTo>
                    <a:pt x="0" y="15240"/>
                    <a:pt x="15113" y="0"/>
                    <a:pt x="33909" y="0"/>
                  </a:cubicBezTo>
                  <a:close/>
                </a:path>
              </a:pathLst>
            </a:custGeom>
            <a:solidFill>
              <a:srgbClr val="C07A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207294"/>
            <a:ext cx="2405018" cy="7327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5599" spc="-33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Abstract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98901" y="2444115"/>
            <a:ext cx="16230600" cy="71323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1102766" indent="-275692" lvl="3">
              <a:lnSpc>
                <a:spcPts val="3779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Lung Cancer is one of the most fatal disease a human can get, as the death rate of Lung cancer is 22% as per data until 2023. As the disease is fatal itself, detecting it early is important as well. </a:t>
            </a:r>
          </a:p>
          <a:p>
            <a:pPr algn="just" marL="1102766" indent="-275692" lvl="3">
              <a:lnSpc>
                <a:spcPts val="3779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 that is what our project is about. Detecting Lung cancer in its early stages using CT Scans (Computed Tomography) as it helps in getting a full image of lungs to analyze. </a:t>
            </a:r>
          </a:p>
          <a:p>
            <a:pPr algn="just" marL="1102766" indent="-275692" lvl="3">
              <a:lnSpc>
                <a:spcPts val="3779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We use a Deep learning Technique that is a hybrid architecture which combines transformers with a CNN based UNet architecture known as TransUNet. With this TransUNet model, we fuse ResNet and SimpleCNN, utilizing its Low-level edge detection(SimpleCNN) and deep residual features(ResNet). </a:t>
            </a:r>
          </a:p>
          <a:p>
            <a:pPr algn="just" marL="1102766" indent="-275692" lvl="3">
              <a:lnSpc>
                <a:spcPts val="3779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 it is a hybrid model, which can handle both segmentation and classification of the lung nodules with better precision and accuracy, as existing AI Models struggle with either segmentation or accurate diagnosis &amp; manual interpretation is very time expensive and time consuming and it is prone to making error at any point which can cost heavily. </a:t>
            </a:r>
          </a:p>
          <a:p>
            <a:pPr algn="just" marL="1102766" indent="-275692" lvl="3">
              <a:lnSpc>
                <a:spcPts val="3779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 our solution is to provide a Robust, automated, well-handled system to assist radiologists and doctors with both speed and accuracy. </a:t>
            </a:r>
          </a:p>
          <a:p>
            <a:pPr algn="just" marL="1103002" indent="-275750" lvl="3">
              <a:lnSpc>
                <a:spcPts val="3780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 minimize the model’s over-confidence, we use the Ensemble approach which combines TransUNet, ResNet, SimpleCNN model; acquiring each of its strengths.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EBE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9650" y="1989992"/>
            <a:ext cx="830237" cy="38100"/>
            <a:chOff x="0" y="0"/>
            <a:chExt cx="1106983" cy="5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23950" cy="67691"/>
            </a:xfrm>
            <a:custGeom>
              <a:avLst/>
              <a:gdLst/>
              <a:ahLst/>
              <a:cxnLst/>
              <a:rect r="r" b="b" t="t" l="l"/>
              <a:pathLst>
                <a:path h="67691" w="1123950">
                  <a:moveTo>
                    <a:pt x="33909" y="0"/>
                  </a:moveTo>
                  <a:lnTo>
                    <a:pt x="1090041" y="0"/>
                  </a:lnTo>
                  <a:cubicBezTo>
                    <a:pt x="1108710" y="0"/>
                    <a:pt x="1123950" y="15113"/>
                    <a:pt x="1123950" y="33909"/>
                  </a:cubicBezTo>
                  <a:cubicBezTo>
                    <a:pt x="1123950" y="52705"/>
                    <a:pt x="1108710" y="67691"/>
                    <a:pt x="1090041" y="67691"/>
                  </a:cubicBezTo>
                  <a:lnTo>
                    <a:pt x="33909" y="67691"/>
                  </a:lnTo>
                  <a:cubicBezTo>
                    <a:pt x="15113" y="67691"/>
                    <a:pt x="0" y="52578"/>
                    <a:pt x="0" y="33909"/>
                  </a:cubicBezTo>
                  <a:cubicBezTo>
                    <a:pt x="0" y="15240"/>
                    <a:pt x="15113" y="0"/>
                    <a:pt x="33909" y="0"/>
                  </a:cubicBezTo>
                  <a:close/>
                </a:path>
              </a:pathLst>
            </a:custGeom>
            <a:solidFill>
              <a:srgbClr val="C07A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207294"/>
            <a:ext cx="5553970" cy="668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5599" spc="-33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Problem Statement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98901" y="2444115"/>
            <a:ext cx="16230600" cy="5284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1103002" indent="-275750" lvl="3">
              <a:lnSpc>
                <a:spcPts val="3780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Lung cancer is the leading cause of cancer-related deaths, largely due to late-stage diagnosis.</a:t>
            </a:r>
          </a:p>
          <a:p>
            <a:pPr algn="just" marL="1103002" indent="-275750" lvl="3">
              <a:lnSpc>
                <a:spcPts val="3780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Although 3D CT scans are effective for early detection, manual interpretation of massive spatial volumes is slow, prone to cognitive fatigue, and varies between radiologists.</a:t>
            </a:r>
          </a:p>
          <a:p>
            <a:pPr algn="just" marL="1103002" indent="-275750" lvl="3">
              <a:lnSpc>
                <a:spcPts val="3780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Existing AI models often struggle with either fine-grained local texture analysis or the global contextual understanding needed for highly accurate diagnosis.</a:t>
            </a:r>
          </a:p>
          <a:p>
            <a:pPr algn="just" marL="1103002" indent="-275750" lvl="3">
              <a:lnSpc>
                <a:spcPts val="3780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There's a lack of explainable, multi-modal ensemble models—combining CNNs, ResNets, and Vision Transformers—that can perform both pixel-perfect segmentation and precise classification of lung nodules in a clinically meaningful way.</a:t>
            </a:r>
          </a:p>
          <a:p>
            <a:pPr algn="just" marL="1103002" indent="-275750" lvl="3">
              <a:lnSpc>
                <a:spcPts val="3780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 robust, automated, and interpretable clinical dashboard is needed to assist radiologists in detecting early-stage lung cancer with high baseline precision, rapid computational speed, and absolute diagnostic transparency.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EBE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9650" y="1686544"/>
            <a:ext cx="830237" cy="38100"/>
            <a:chOff x="0" y="0"/>
            <a:chExt cx="1106983" cy="5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23950" cy="67691"/>
            </a:xfrm>
            <a:custGeom>
              <a:avLst/>
              <a:gdLst/>
              <a:ahLst/>
              <a:cxnLst/>
              <a:rect r="r" b="b" t="t" l="l"/>
              <a:pathLst>
                <a:path h="67691" w="1123950">
                  <a:moveTo>
                    <a:pt x="33909" y="0"/>
                  </a:moveTo>
                  <a:lnTo>
                    <a:pt x="1090041" y="0"/>
                  </a:lnTo>
                  <a:cubicBezTo>
                    <a:pt x="1108710" y="0"/>
                    <a:pt x="1123950" y="15113"/>
                    <a:pt x="1123950" y="33909"/>
                  </a:cubicBezTo>
                  <a:cubicBezTo>
                    <a:pt x="1123950" y="52705"/>
                    <a:pt x="1108710" y="67691"/>
                    <a:pt x="1090041" y="67691"/>
                  </a:cubicBezTo>
                  <a:lnTo>
                    <a:pt x="33909" y="67691"/>
                  </a:lnTo>
                  <a:cubicBezTo>
                    <a:pt x="15113" y="67691"/>
                    <a:pt x="0" y="52578"/>
                    <a:pt x="0" y="33909"/>
                  </a:cubicBezTo>
                  <a:cubicBezTo>
                    <a:pt x="0" y="15240"/>
                    <a:pt x="15113" y="0"/>
                    <a:pt x="33909" y="0"/>
                  </a:cubicBezTo>
                  <a:close/>
                </a:path>
              </a:pathLst>
            </a:custGeom>
            <a:solidFill>
              <a:srgbClr val="C07A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884730"/>
            <a:ext cx="4833995" cy="668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5599" spc="-33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Existing System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11103" y="2107825"/>
            <a:ext cx="16230600" cy="6236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1103002" indent="-275750" lvl="3">
              <a:lnSpc>
                <a:spcPts val="3780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Traditional diagnosis of lung cancer relies on manual evaluation of massive volumetric CT scans by radiologists, which is time-intensive and prone to human error.</a:t>
            </a:r>
          </a:p>
          <a:p>
            <a:pPr algn="just" marL="1103002" indent="-275750" lvl="3">
              <a:lnSpc>
                <a:spcPts val="3780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Conventional machine learning models require hand-crafted features and lack the ability to automatically extract deep, complex spatial hierarchies and edge morphology across diverse patient data.</a:t>
            </a:r>
          </a:p>
          <a:p>
            <a:pPr algn="just" marL="1103002" indent="-275750" lvl="3">
              <a:lnSpc>
                <a:spcPts val="3780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Standard 2D and 3D CNN-based segmentation models (like U-Net) can detect lung nodules but often fail to capture the global context and long-range dependencies that Vision Transformers (ViTs) successfully resolve.</a:t>
            </a:r>
          </a:p>
          <a:p>
            <a:pPr algn="just" marL="1103002" indent="-275750" lvl="3">
              <a:lnSpc>
                <a:spcPts val="3780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Classification and segmentation are often handled separately, leading to disjointed pipelines and a lack of unified, dual-task ensemble models that can simultaneously predict malignancy and generate pixel-perfect boundary masks.</a:t>
            </a:r>
          </a:p>
          <a:p>
            <a:pPr algn="just" marL="1103002" indent="-275750" lvl="3">
              <a:lnSpc>
                <a:spcPts val="3780"/>
              </a:lnSpc>
              <a:buFont typeface="Arial"/>
              <a:buChar char="￭"/>
            </a:pPr>
            <a:r>
              <a:rPr lang="en-US" sz="2700" spc="-108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Few existing systems provide visual explanations or trustworthy AI outputs, creating a critical need for an interpretable clinical dashboard that delivers multi-planar reconstructions, exact segmentation overlays, and sensible confidence scaling for radiologists.</a:t>
            </a:r>
          </a:p>
          <a:p>
            <a:pPr algn="just" marL="1103002" indent="-275750" lvl="3">
              <a:lnSpc>
                <a:spcPts val="3780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EBE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9650" y="1174023"/>
            <a:ext cx="1111348" cy="38100"/>
            <a:chOff x="0" y="0"/>
            <a:chExt cx="1481798" cy="5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98727" cy="67818"/>
            </a:xfrm>
            <a:custGeom>
              <a:avLst/>
              <a:gdLst/>
              <a:ahLst/>
              <a:cxnLst/>
              <a:rect r="r" b="b" t="t" l="l"/>
              <a:pathLst>
                <a:path h="67818" w="1498727">
                  <a:moveTo>
                    <a:pt x="33909" y="0"/>
                  </a:moveTo>
                  <a:lnTo>
                    <a:pt x="1464818" y="0"/>
                  </a:lnTo>
                  <a:cubicBezTo>
                    <a:pt x="1483487" y="0"/>
                    <a:pt x="1498727" y="15113"/>
                    <a:pt x="1498727" y="33909"/>
                  </a:cubicBezTo>
                  <a:cubicBezTo>
                    <a:pt x="1498727" y="52705"/>
                    <a:pt x="1483614" y="67818"/>
                    <a:pt x="1464818" y="67818"/>
                  </a:cubicBezTo>
                  <a:lnTo>
                    <a:pt x="33909" y="67818"/>
                  </a:lnTo>
                  <a:cubicBezTo>
                    <a:pt x="15113" y="67691"/>
                    <a:pt x="0" y="52578"/>
                    <a:pt x="0" y="33909"/>
                  </a:cubicBezTo>
                  <a:cubicBezTo>
                    <a:pt x="0" y="15240"/>
                    <a:pt x="15113" y="0"/>
                    <a:pt x="33909" y="0"/>
                  </a:cubicBezTo>
                  <a:close/>
                </a:path>
              </a:pathLst>
            </a:custGeom>
            <a:solidFill>
              <a:srgbClr val="C07A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392678"/>
            <a:ext cx="5590575" cy="668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5599" spc="-33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Literature Survey</a:t>
            </a:r>
          </a:p>
        </p:txBody>
      </p:sp>
      <p:graphicFrame>
        <p:nvGraphicFramePr>
          <p:cNvPr name="Table 5" id="5"/>
          <p:cNvGraphicFramePr>
            <a:graphicFrameLocks noGrp="true"/>
          </p:cNvGraphicFramePr>
          <p:nvPr/>
        </p:nvGraphicFramePr>
        <p:xfrm>
          <a:off x="1028700" y="1343873"/>
          <a:ext cx="16573500" cy="8305800"/>
        </p:xfrm>
        <a:graphic>
          <a:graphicData uri="http://schemas.openxmlformats.org/drawingml/2006/table">
            <a:tbl>
              <a:tblPr/>
              <a:tblGrid>
                <a:gridCol w="3314700"/>
                <a:gridCol w="3314700"/>
                <a:gridCol w="3314700"/>
                <a:gridCol w="3314700"/>
                <a:gridCol w="3314700"/>
              </a:tblGrid>
              <a:tr h="170230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8"/>
                        </a:lnSpc>
                        <a:defRPr/>
                      </a:pPr>
                      <a:r>
                        <a:rPr lang="en-US" sz="2999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Year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Paper Title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Problem Statement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Proposed Solution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Research Gap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481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2025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A hybrid CNN-transformer model for predicting N staging and prognosis of NSCLC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Accurate N-staging assessment in NSCLC patients is vital for treatment planning and survival but relies on invasive pathology or limited imaging, with traditional methods struggling on small lesions and needing non-invasive precision.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A hybrid 3D CNN-Transformer model extracts local (CNN) and global (Transformer) features from CT scans for N-staging prediction and Lasso-Cox-based survival analysis (1-7 years), achieving ~82% accuracy across sets.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Pure CNNs miss global context; </a:t>
                      </a:r>
                      <a:endParaRPr lang="en-US" sz="1100"/>
                    </a:p>
                    <a:p>
                      <a:pPr algn="just">
                        <a:lnSpc>
                          <a:spcPts val="1959"/>
                        </a:lnSpc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pure Transformers overlook </a:t>
                      </a:r>
                    </a:p>
                    <a:p>
                      <a:pPr algn="just">
                        <a:lnSpc>
                          <a:spcPts val="1959"/>
                        </a:lnSpc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local details.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79341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2025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Dual-branch feature fusion S3D V-Net network for lung nodules segmentation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Lung nodule segmentation accuracy is hindered by heterogeneity, edge blurring, pixel imbalance, and inadequate 3D structural use in 2D/3D models.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A 2.5D S3D V-Net with dual-branch feature fusion (DFFM), reverse attention (RACM), separable 3D convolutions, and central pooling fuses intra/inter-slice features for precise edge segmentation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Existing 2D/3D/2.5D models suffer high computation, info loss, or poor edge handling; limited multi-scale fusion and attention for complex anatomies/noise.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79341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2024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A multi-task model for pulmonary nodule segmentation and classification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Single-task deep models ignore segmentation-classification correlations, limiting performance in lung cancer </a:t>
                      </a:r>
                      <a:endParaRPr lang="en-US" sz="1100"/>
                    </a:p>
                    <a:p>
                      <a:pPr algn="l">
                        <a:lnSpc>
                          <a:spcPts val="2238"/>
                        </a:lnSpc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CAD for nodules.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MT-Net: shared backbone with Coarse Seg-net (location prior), Class-net, Fine Seg-net, and prediction distillation for joint tasks (DI 83.2%, ACC 91.9% on LIDC-IDRI).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Task silos overlook mutual benefits; no unified models exploiting correlations via distillation/priors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EBE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9650" y="1174023"/>
            <a:ext cx="1111348" cy="38100"/>
            <a:chOff x="0" y="0"/>
            <a:chExt cx="1481798" cy="5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98727" cy="67818"/>
            </a:xfrm>
            <a:custGeom>
              <a:avLst/>
              <a:gdLst/>
              <a:ahLst/>
              <a:cxnLst/>
              <a:rect r="r" b="b" t="t" l="l"/>
              <a:pathLst>
                <a:path h="67818" w="1498727">
                  <a:moveTo>
                    <a:pt x="33909" y="0"/>
                  </a:moveTo>
                  <a:lnTo>
                    <a:pt x="1464818" y="0"/>
                  </a:lnTo>
                  <a:cubicBezTo>
                    <a:pt x="1483487" y="0"/>
                    <a:pt x="1498727" y="15113"/>
                    <a:pt x="1498727" y="33909"/>
                  </a:cubicBezTo>
                  <a:cubicBezTo>
                    <a:pt x="1498727" y="52705"/>
                    <a:pt x="1483614" y="67818"/>
                    <a:pt x="1464818" y="67818"/>
                  </a:cubicBezTo>
                  <a:lnTo>
                    <a:pt x="33909" y="67818"/>
                  </a:lnTo>
                  <a:cubicBezTo>
                    <a:pt x="15113" y="67691"/>
                    <a:pt x="0" y="52578"/>
                    <a:pt x="0" y="33909"/>
                  </a:cubicBezTo>
                  <a:cubicBezTo>
                    <a:pt x="0" y="15240"/>
                    <a:pt x="15113" y="0"/>
                    <a:pt x="33909" y="0"/>
                  </a:cubicBezTo>
                  <a:close/>
                </a:path>
              </a:pathLst>
            </a:custGeom>
            <a:solidFill>
              <a:srgbClr val="C07A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392678"/>
            <a:ext cx="5590575" cy="668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5599" spc="-33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Literature Survey</a:t>
            </a:r>
          </a:p>
        </p:txBody>
      </p:sp>
      <p:graphicFrame>
        <p:nvGraphicFramePr>
          <p:cNvPr name="Table 5" id="5"/>
          <p:cNvGraphicFramePr>
            <a:graphicFrameLocks noGrp="true"/>
          </p:cNvGraphicFramePr>
          <p:nvPr/>
        </p:nvGraphicFramePr>
        <p:xfrm>
          <a:off x="1028700" y="1758771"/>
          <a:ext cx="16573500" cy="5969000"/>
        </p:xfrm>
        <a:graphic>
          <a:graphicData uri="http://schemas.openxmlformats.org/drawingml/2006/table">
            <a:tbl>
              <a:tblPr/>
              <a:tblGrid>
                <a:gridCol w="3314700"/>
                <a:gridCol w="3314700"/>
                <a:gridCol w="3314700"/>
                <a:gridCol w="3314700"/>
                <a:gridCol w="3314700"/>
              </a:tblGrid>
              <a:tr h="170031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8"/>
                        </a:lnSpc>
                        <a:defRPr/>
                      </a:pPr>
                      <a:r>
                        <a:rPr lang="en-US" sz="2999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Year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Paper Title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Problem Statement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Proposed Solution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Research Gap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9188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2024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Fusion networks of CNN and transformer with channel attention for lung nodule detection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Lung nodule detection needs better boundary perception amid varying scales/shapes via limited CNN/Transformer fusion.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Dual-branch CNN-Transformer fusion with channel attention, CFM/SFM for multi-scale features and EGFR prediction.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Static fusions fail diverse nodules; lacks adaptive channel/spatial attention for detection/segmentation.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7680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2024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Accurate classification of lung nodules on CT images using the TransUnet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Doctor-dependent CT nodule classification is subjective, time-intensive, error-prone for tiny nodules, with high false positives.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TransUnet: Transformer encodes global features from patches; U-Net decodes for localization; GAP classifies benign/malignant (ACC 84.62%, AUC 0.862 on LIDC-IDRI).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just">
                        <a:lnSpc>
                          <a:spcPts val="2238"/>
                        </a:lnSpc>
                        <a:defRPr/>
                      </a:pPr>
                      <a:r>
                        <a:rPr lang="en-US" sz="1599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Manual features limit automation; early DCNNs miss global modeling for complex backgrounds/tiny objects.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EBE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9650" y="1796367"/>
            <a:ext cx="1188653" cy="38100"/>
            <a:chOff x="0" y="0"/>
            <a:chExt cx="1584871" cy="5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01851" cy="67818"/>
            </a:xfrm>
            <a:custGeom>
              <a:avLst/>
              <a:gdLst/>
              <a:ahLst/>
              <a:cxnLst/>
              <a:rect r="r" b="b" t="t" l="l"/>
              <a:pathLst>
                <a:path h="67818" w="1601851">
                  <a:moveTo>
                    <a:pt x="33909" y="0"/>
                  </a:moveTo>
                  <a:lnTo>
                    <a:pt x="1567942" y="0"/>
                  </a:lnTo>
                  <a:cubicBezTo>
                    <a:pt x="1586611" y="0"/>
                    <a:pt x="1601851" y="15113"/>
                    <a:pt x="1601851" y="33909"/>
                  </a:cubicBezTo>
                  <a:cubicBezTo>
                    <a:pt x="1601851" y="52705"/>
                    <a:pt x="1586738" y="67818"/>
                    <a:pt x="1567942" y="67818"/>
                  </a:cubicBezTo>
                  <a:lnTo>
                    <a:pt x="33909" y="67818"/>
                  </a:lnTo>
                  <a:cubicBezTo>
                    <a:pt x="15113" y="67691"/>
                    <a:pt x="0" y="52578"/>
                    <a:pt x="0" y="33909"/>
                  </a:cubicBezTo>
                  <a:cubicBezTo>
                    <a:pt x="0" y="15240"/>
                    <a:pt x="15113" y="0"/>
                    <a:pt x="33909" y="0"/>
                  </a:cubicBezTo>
                  <a:close/>
                </a:path>
              </a:pathLst>
            </a:custGeom>
            <a:solidFill>
              <a:srgbClr val="C07A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002821"/>
            <a:ext cx="5993273" cy="668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5599" spc="-33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Design Methodology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989334"/>
            <a:ext cx="16230600" cy="6152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48519" indent="-182840" lvl="2">
              <a:lnSpc>
                <a:spcPts val="3840"/>
              </a:lnSpc>
              <a:buFont typeface="Arial"/>
              <a:buChar char="⚬"/>
            </a:pPr>
            <a:r>
              <a:rPr lang="en-US" b="true" sz="2399" spc="-47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Data Collection:</a:t>
            </a:r>
            <a:r>
              <a:rPr lang="en-US" sz="2399" spc="-47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The LUNA16 dataset will be used, utilizing massive 3D CT scans (.mhd format) and precise coordinate mapping via metadata.</a:t>
            </a:r>
          </a:p>
          <a:p>
            <a:pPr algn="just" marL="548519" indent="-182840" lvl="2">
              <a:lnSpc>
                <a:spcPts val="3840"/>
              </a:lnSpc>
              <a:buFont typeface="Arial"/>
              <a:buChar char="⚬"/>
            </a:pPr>
            <a:r>
              <a:rPr lang="en-US" b="true" sz="2399" spc="-47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Preprocessing:</a:t>
            </a:r>
            <a:r>
              <a:rPr lang="en-US" sz="2399" spc="-47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World-to-voxel coordinate translation via SimpleITK, extraction of highly localized (Depth X Height X Breadth) 16 x 64 x 64 3D patches, and zero-mean/unit-variance normalization. </a:t>
            </a:r>
          </a:p>
          <a:p>
            <a:pPr algn="just" marL="548519" indent="-182840" lvl="2">
              <a:lnSpc>
                <a:spcPts val="3840"/>
              </a:lnSpc>
              <a:buFont typeface="Arial"/>
              <a:buChar char="⚬"/>
            </a:pPr>
            <a:r>
              <a:rPr lang="en-US" b="true" sz="2399" spc="-47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Segmentation:</a:t>
            </a:r>
            <a:r>
              <a:rPr lang="en-US" sz="2399" spc="-47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Generation of pixel-perfect boundary masks utilizing the TransUNet's Vision Transformers and UNet decoder, enhanced by cross-network skip connections.</a:t>
            </a:r>
          </a:p>
          <a:p>
            <a:pPr algn="just" marL="548519" indent="-182840" lvl="2">
              <a:lnSpc>
                <a:spcPts val="3840"/>
              </a:lnSpc>
              <a:buFont typeface="Arial"/>
              <a:buChar char="⚬"/>
            </a:pPr>
            <a:r>
              <a:rPr lang="en-US" b="true" sz="2399" spc="-47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Classification:</a:t>
            </a:r>
            <a:r>
              <a:rPr lang="en-US" sz="2399" spc="-47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Processing the localized patches through the Ensemble method (TransUNet, SimpleCNN, and ResNet-18) unified by a dense Fusion Gate for exact malignancy prediction. </a:t>
            </a:r>
          </a:p>
          <a:p>
            <a:pPr algn="just" marL="548519" indent="-182840" lvl="2">
              <a:lnSpc>
                <a:spcPts val="3840"/>
              </a:lnSpc>
              <a:buFont typeface="Arial"/>
              <a:buChar char="⚬"/>
            </a:pPr>
            <a:r>
              <a:rPr lang="en-US" b="true" sz="2399" spc="-47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Evaluation: </a:t>
            </a:r>
            <a:r>
              <a:rPr lang="en-US" sz="2399" spc="-47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Full extent baseline evaluation of the trained model using critical clinical metrics such as Accuracy, ROC-AUC, Precision, Recall (Sensitivity), and Mean Dice Score. </a:t>
            </a:r>
          </a:p>
          <a:p>
            <a:pPr algn="just" marL="548519" indent="-182840" lvl="2">
              <a:lnSpc>
                <a:spcPts val="3840"/>
              </a:lnSpc>
              <a:buFont typeface="Arial"/>
              <a:buChar char="⚬"/>
            </a:pPr>
            <a:r>
              <a:rPr lang="en-US" b="true" sz="2399" spc="-47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Explainability:</a:t>
            </a:r>
            <a:r>
              <a:rPr lang="en-US" sz="2399" spc="-47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Deployment via Streamlit platform as a dashboard featuring Multi-Planar Reconstructions (axial, coronal, sagittal) and direct segmentation mask overlays to visually prove the AI's diagnostic focus.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E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9650" y="1781185"/>
            <a:ext cx="830237" cy="38100"/>
            <a:chOff x="0" y="0"/>
            <a:chExt cx="1106983" cy="5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23950" cy="67691"/>
            </a:xfrm>
            <a:custGeom>
              <a:avLst/>
              <a:gdLst/>
              <a:ahLst/>
              <a:cxnLst/>
              <a:rect r="r" b="b" t="t" l="l"/>
              <a:pathLst>
                <a:path h="67691" w="1123950">
                  <a:moveTo>
                    <a:pt x="33909" y="0"/>
                  </a:moveTo>
                  <a:lnTo>
                    <a:pt x="1090041" y="0"/>
                  </a:lnTo>
                  <a:cubicBezTo>
                    <a:pt x="1108710" y="0"/>
                    <a:pt x="1123950" y="15113"/>
                    <a:pt x="1123950" y="33909"/>
                  </a:cubicBezTo>
                  <a:cubicBezTo>
                    <a:pt x="1123950" y="52705"/>
                    <a:pt x="1108710" y="67691"/>
                    <a:pt x="1090041" y="67691"/>
                  </a:cubicBezTo>
                  <a:lnTo>
                    <a:pt x="33909" y="67691"/>
                  </a:lnTo>
                  <a:cubicBezTo>
                    <a:pt x="15113" y="67691"/>
                    <a:pt x="0" y="52578"/>
                    <a:pt x="0" y="33909"/>
                  </a:cubicBezTo>
                  <a:cubicBezTo>
                    <a:pt x="0" y="15240"/>
                    <a:pt x="15113" y="0"/>
                    <a:pt x="33909" y="0"/>
                  </a:cubicBezTo>
                  <a:close/>
                </a:path>
              </a:pathLst>
            </a:custGeom>
            <a:solidFill>
              <a:srgbClr val="C07A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002821"/>
            <a:ext cx="11350333" cy="668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5599" spc="-33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Architecture Diagram (Proposed System)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0" y="1921288"/>
            <a:ext cx="18288000" cy="8046720"/>
            <a:chOff x="0" y="0"/>
            <a:chExt cx="24384000" cy="107289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384000" cy="10728960"/>
            </a:xfrm>
            <a:custGeom>
              <a:avLst/>
              <a:gdLst/>
              <a:ahLst/>
              <a:cxnLst/>
              <a:rect r="r" b="b" t="t" l="l"/>
              <a:pathLst>
                <a:path h="1072896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728960"/>
                  </a:lnTo>
                  <a:lnTo>
                    <a:pt x="0" y="107289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55" t="0" r="-55" b="0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15592396" y="8508663"/>
            <a:ext cx="2695604" cy="850316"/>
          </a:xfrm>
          <a:custGeom>
            <a:avLst/>
            <a:gdLst/>
            <a:ahLst/>
            <a:cxnLst/>
            <a:rect r="r" b="b" t="t" l="l"/>
            <a:pathLst>
              <a:path h="850316" w="2695604">
                <a:moveTo>
                  <a:pt x="0" y="0"/>
                </a:moveTo>
                <a:lnTo>
                  <a:pt x="2695604" y="0"/>
                </a:lnTo>
                <a:lnTo>
                  <a:pt x="2695604" y="850316"/>
                </a:lnTo>
                <a:lnTo>
                  <a:pt x="0" y="8503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E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9650" y="1832981"/>
            <a:ext cx="830237" cy="38100"/>
            <a:chOff x="0" y="0"/>
            <a:chExt cx="1106983" cy="5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23950" cy="67691"/>
            </a:xfrm>
            <a:custGeom>
              <a:avLst/>
              <a:gdLst/>
              <a:ahLst/>
              <a:cxnLst/>
              <a:rect r="r" b="b" t="t" l="l"/>
              <a:pathLst>
                <a:path h="67691" w="1123950">
                  <a:moveTo>
                    <a:pt x="33909" y="0"/>
                  </a:moveTo>
                  <a:lnTo>
                    <a:pt x="1090041" y="0"/>
                  </a:lnTo>
                  <a:cubicBezTo>
                    <a:pt x="1108710" y="0"/>
                    <a:pt x="1123950" y="15113"/>
                    <a:pt x="1123950" y="33909"/>
                  </a:cubicBezTo>
                  <a:cubicBezTo>
                    <a:pt x="1123950" y="52705"/>
                    <a:pt x="1108710" y="67691"/>
                    <a:pt x="1090041" y="67691"/>
                  </a:cubicBezTo>
                  <a:lnTo>
                    <a:pt x="33909" y="67691"/>
                  </a:lnTo>
                  <a:cubicBezTo>
                    <a:pt x="15113" y="67691"/>
                    <a:pt x="0" y="52578"/>
                    <a:pt x="0" y="33909"/>
                  </a:cubicBezTo>
                  <a:cubicBezTo>
                    <a:pt x="0" y="15240"/>
                    <a:pt x="15113" y="0"/>
                    <a:pt x="33909" y="0"/>
                  </a:cubicBezTo>
                  <a:close/>
                </a:path>
              </a:pathLst>
            </a:custGeom>
            <a:solidFill>
              <a:srgbClr val="C07A35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1009650" y="2116800"/>
            <a:ext cx="7566749" cy="6053399"/>
          </a:xfrm>
          <a:custGeom>
            <a:avLst/>
            <a:gdLst/>
            <a:ahLst/>
            <a:cxnLst/>
            <a:rect r="r" b="b" t="t" l="l"/>
            <a:pathLst>
              <a:path h="6053399" w="7566749">
                <a:moveTo>
                  <a:pt x="0" y="0"/>
                </a:moveTo>
                <a:lnTo>
                  <a:pt x="7566749" y="0"/>
                </a:lnTo>
                <a:lnTo>
                  <a:pt x="7566749" y="6053400"/>
                </a:lnTo>
                <a:lnTo>
                  <a:pt x="0" y="6053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aphicFrame>
        <p:nvGraphicFramePr>
          <p:cNvPr name="Table 5" id="5"/>
          <p:cNvGraphicFramePr>
            <a:graphicFrameLocks noGrp="true"/>
          </p:cNvGraphicFramePr>
          <p:nvPr/>
        </p:nvGraphicFramePr>
        <p:xfrm>
          <a:off x="8768973" y="2116800"/>
          <a:ext cx="8755139" cy="6677025"/>
        </p:xfrm>
        <a:graphic>
          <a:graphicData uri="http://schemas.openxmlformats.org/drawingml/2006/table">
            <a:tbl>
              <a:tblPr/>
              <a:tblGrid>
                <a:gridCol w="1634862"/>
                <a:gridCol w="1205895"/>
                <a:gridCol w="1181382"/>
                <a:gridCol w="1585837"/>
                <a:gridCol w="1610350"/>
                <a:gridCol w="1536813"/>
              </a:tblGrid>
              <a:tr h="170518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 b="true">
                          <a:solidFill>
                            <a:srgbClr val="000000"/>
                          </a:solidFill>
                          <a:latin typeface="Helvetica World Bold"/>
                          <a:ea typeface="Helvetica World Bold"/>
                          <a:cs typeface="Helvetica World Bold"/>
                          <a:sym typeface="Helvetica World Bold"/>
                        </a:rPr>
                        <a:t>F1-Score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 b="true">
                          <a:solidFill>
                            <a:srgbClr val="000000"/>
                          </a:solidFill>
                          <a:latin typeface="Helvetica World Bold"/>
                          <a:ea typeface="Helvetica World Bold"/>
                          <a:cs typeface="Helvetica World Bold"/>
                          <a:sym typeface="Helvetica World Bold"/>
                        </a:rPr>
                        <a:t>Recall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 b="true">
                          <a:solidFill>
                            <a:srgbClr val="000000"/>
                          </a:solidFill>
                          <a:latin typeface="Helvetica World Bold"/>
                          <a:ea typeface="Helvetica World Bold"/>
                          <a:cs typeface="Helvetica World Bold"/>
                          <a:sym typeface="Helvetica World Bold"/>
                        </a:rPr>
                        <a:t>Accuracy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 b="true">
                          <a:solidFill>
                            <a:srgbClr val="000000"/>
                          </a:solidFill>
                          <a:latin typeface="Helvetica World Bold"/>
                          <a:ea typeface="Helvetica World Bold"/>
                          <a:cs typeface="Helvetica World Bold"/>
                          <a:sym typeface="Helvetica World Bold"/>
                        </a:rPr>
                        <a:t>Model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 b="true">
                          <a:solidFill>
                            <a:srgbClr val="000000"/>
                          </a:solidFill>
                          <a:latin typeface="Helvetica World Bold"/>
                          <a:ea typeface="Helvetica World Bold"/>
                          <a:cs typeface="Helvetica World Bold"/>
                          <a:sym typeface="Helvetica World Bold"/>
                        </a:rPr>
                        <a:t>Dice Score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 b="true">
                          <a:solidFill>
                            <a:srgbClr val="000000"/>
                          </a:solidFill>
                          <a:latin typeface="Helvetica World Bold"/>
                          <a:ea typeface="Helvetica World Bold"/>
                          <a:cs typeface="Helvetica World Bold"/>
                          <a:sym typeface="Helvetica World Bold"/>
                        </a:rPr>
                        <a:t>AUC-ROC Curve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502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96%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94%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97%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TSFE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0.85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0.99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502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84.1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85%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84.6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TransUNet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0.80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0.86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3812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78.2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73.5%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87.4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CNN-Transformer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81.3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0.91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367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90.2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85%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89.6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Transformer U-Net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88.7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0.92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6" id="6"/>
          <p:cNvSpPr txBox="true"/>
          <p:nvPr/>
        </p:nvSpPr>
        <p:spPr>
          <a:xfrm rot="0">
            <a:off x="1028700" y="1002821"/>
            <a:ext cx="5968860" cy="668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5599" spc="-33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Comparitive Analysis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E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9650" y="1845183"/>
            <a:ext cx="830237" cy="38100"/>
            <a:chOff x="0" y="0"/>
            <a:chExt cx="1106983" cy="5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23950" cy="67691"/>
            </a:xfrm>
            <a:custGeom>
              <a:avLst/>
              <a:gdLst/>
              <a:ahLst/>
              <a:cxnLst/>
              <a:rect r="r" b="b" t="t" l="l"/>
              <a:pathLst>
                <a:path h="67691" w="1123950">
                  <a:moveTo>
                    <a:pt x="33909" y="0"/>
                  </a:moveTo>
                  <a:lnTo>
                    <a:pt x="1090041" y="0"/>
                  </a:lnTo>
                  <a:cubicBezTo>
                    <a:pt x="1108710" y="0"/>
                    <a:pt x="1123950" y="15113"/>
                    <a:pt x="1123950" y="33909"/>
                  </a:cubicBezTo>
                  <a:cubicBezTo>
                    <a:pt x="1123950" y="52705"/>
                    <a:pt x="1108710" y="67691"/>
                    <a:pt x="1090041" y="67691"/>
                  </a:cubicBezTo>
                  <a:lnTo>
                    <a:pt x="33909" y="67691"/>
                  </a:lnTo>
                  <a:cubicBezTo>
                    <a:pt x="15113" y="67691"/>
                    <a:pt x="0" y="52578"/>
                    <a:pt x="0" y="33909"/>
                  </a:cubicBezTo>
                  <a:cubicBezTo>
                    <a:pt x="0" y="15240"/>
                    <a:pt x="15113" y="0"/>
                    <a:pt x="33909" y="0"/>
                  </a:cubicBezTo>
                  <a:close/>
                </a:path>
              </a:pathLst>
            </a:custGeom>
            <a:solidFill>
              <a:srgbClr val="C07A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002821"/>
            <a:ext cx="4809592" cy="668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5599" spc="-33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Results (images)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972317" y="1883283"/>
            <a:ext cx="8343376" cy="3149622"/>
            <a:chOff x="0" y="0"/>
            <a:chExt cx="11124502" cy="419949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124438" cy="4199509"/>
            </a:xfrm>
            <a:custGeom>
              <a:avLst/>
              <a:gdLst/>
              <a:ahLst/>
              <a:cxnLst/>
              <a:rect r="r" b="b" t="t" l="l"/>
              <a:pathLst>
                <a:path h="4199509" w="11124438">
                  <a:moveTo>
                    <a:pt x="0" y="0"/>
                  </a:moveTo>
                  <a:lnTo>
                    <a:pt x="11124438" y="0"/>
                  </a:lnTo>
                  <a:lnTo>
                    <a:pt x="11124438" y="4199509"/>
                  </a:lnTo>
                  <a:lnTo>
                    <a:pt x="0" y="4199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45" r="0" b="-45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4972317" y="5801601"/>
            <a:ext cx="8343376" cy="3274771"/>
            <a:chOff x="0" y="0"/>
            <a:chExt cx="11124502" cy="436636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124438" cy="4366387"/>
            </a:xfrm>
            <a:custGeom>
              <a:avLst/>
              <a:gdLst/>
              <a:ahLst/>
              <a:cxnLst/>
              <a:rect r="r" b="b" t="t" l="l"/>
              <a:pathLst>
                <a:path h="4366387" w="11124438">
                  <a:moveTo>
                    <a:pt x="0" y="0"/>
                  </a:moveTo>
                  <a:lnTo>
                    <a:pt x="11124438" y="0"/>
                  </a:lnTo>
                  <a:lnTo>
                    <a:pt x="11124438" y="4366387"/>
                  </a:lnTo>
                  <a:lnTo>
                    <a:pt x="0" y="43663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70" r="0" b="-7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6860762" y="5136442"/>
            <a:ext cx="5022618" cy="491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0"/>
              </a:lnSpc>
            </a:pPr>
            <a:r>
              <a:rPr lang="en-US" sz="2000" i="true" spc="-40">
                <a:solidFill>
                  <a:srgbClr val="000000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Fig. 1, GRAD-CAM Image of model’s prediction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987767" y="9181148"/>
            <a:ext cx="6312465" cy="491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0"/>
              </a:lnSpc>
            </a:pPr>
            <a:r>
              <a:rPr lang="en-US" sz="2000" i="true" spc="-40">
                <a:solidFill>
                  <a:srgbClr val="000000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Fig. 2, Classic CT SCAN (Preprocessed) model’s prediction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E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9650" y="1845183"/>
            <a:ext cx="830237" cy="38100"/>
            <a:chOff x="0" y="0"/>
            <a:chExt cx="1106983" cy="5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23950" cy="67691"/>
            </a:xfrm>
            <a:custGeom>
              <a:avLst/>
              <a:gdLst/>
              <a:ahLst/>
              <a:cxnLst/>
              <a:rect r="r" b="b" t="t" l="l"/>
              <a:pathLst>
                <a:path h="67691" w="1123950">
                  <a:moveTo>
                    <a:pt x="33909" y="0"/>
                  </a:moveTo>
                  <a:lnTo>
                    <a:pt x="1090041" y="0"/>
                  </a:lnTo>
                  <a:cubicBezTo>
                    <a:pt x="1108710" y="0"/>
                    <a:pt x="1123950" y="15113"/>
                    <a:pt x="1123950" y="33909"/>
                  </a:cubicBezTo>
                  <a:cubicBezTo>
                    <a:pt x="1123950" y="52705"/>
                    <a:pt x="1108710" y="67691"/>
                    <a:pt x="1090041" y="67691"/>
                  </a:cubicBezTo>
                  <a:lnTo>
                    <a:pt x="33909" y="67691"/>
                  </a:lnTo>
                  <a:cubicBezTo>
                    <a:pt x="15113" y="67691"/>
                    <a:pt x="0" y="52578"/>
                    <a:pt x="0" y="33909"/>
                  </a:cubicBezTo>
                  <a:cubicBezTo>
                    <a:pt x="0" y="15240"/>
                    <a:pt x="15113" y="0"/>
                    <a:pt x="33909" y="0"/>
                  </a:cubicBezTo>
                  <a:close/>
                </a:path>
              </a:pathLst>
            </a:custGeom>
            <a:solidFill>
              <a:srgbClr val="C07A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002821"/>
            <a:ext cx="4809592" cy="668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5599" spc="-33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Results (images)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830728" y="2192798"/>
            <a:ext cx="8626554" cy="3149622"/>
            <a:chOff x="0" y="0"/>
            <a:chExt cx="11502072" cy="419949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502009" cy="4199509"/>
            </a:xfrm>
            <a:custGeom>
              <a:avLst/>
              <a:gdLst/>
              <a:ahLst/>
              <a:cxnLst/>
              <a:rect r="r" b="b" t="t" l="l"/>
              <a:pathLst>
                <a:path h="4199509" w="11502009">
                  <a:moveTo>
                    <a:pt x="0" y="0"/>
                  </a:moveTo>
                  <a:lnTo>
                    <a:pt x="11502009" y="0"/>
                  </a:lnTo>
                  <a:lnTo>
                    <a:pt x="11502009" y="4199509"/>
                  </a:lnTo>
                  <a:lnTo>
                    <a:pt x="0" y="4199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36895" t="0" r="-36896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5806802" y="5983529"/>
            <a:ext cx="6674396" cy="3274771"/>
            <a:chOff x="0" y="0"/>
            <a:chExt cx="8899195" cy="436636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899144" cy="4366387"/>
            </a:xfrm>
            <a:custGeom>
              <a:avLst/>
              <a:gdLst/>
              <a:ahLst/>
              <a:cxnLst/>
              <a:rect r="r" b="b" t="t" l="l"/>
              <a:pathLst>
                <a:path h="4366387" w="8899144">
                  <a:moveTo>
                    <a:pt x="0" y="0"/>
                  </a:moveTo>
                  <a:lnTo>
                    <a:pt x="8899144" y="0"/>
                  </a:lnTo>
                  <a:lnTo>
                    <a:pt x="8899144" y="4366387"/>
                  </a:lnTo>
                  <a:lnTo>
                    <a:pt x="0" y="43663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355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6077079" y="5378195"/>
            <a:ext cx="6133843" cy="3957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0"/>
              </a:lnSpc>
            </a:pPr>
            <a:r>
              <a:rPr lang="en-US" sz="2000" i="true" spc="-40">
                <a:solidFill>
                  <a:srgbClr val="000000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Fig. 3, Three Dimensional View of Model’s prediction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984587" y="9390574"/>
            <a:ext cx="4562883" cy="3957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0"/>
              </a:lnSpc>
            </a:pPr>
            <a:r>
              <a:rPr lang="en-US" sz="2000" i="true" spc="-40">
                <a:solidFill>
                  <a:srgbClr val="000000"/>
                </a:solidFill>
                <a:latin typeface="Helvetica World Italics"/>
                <a:ea typeface="Helvetica World Italics"/>
                <a:cs typeface="Helvetica World Italics"/>
                <a:sym typeface="Helvetica World Italics"/>
              </a:rPr>
              <a:t>Fig. 4, Isolated view of the malignant part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E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9650" y="1845183"/>
            <a:ext cx="830237" cy="38100"/>
            <a:chOff x="0" y="0"/>
            <a:chExt cx="1106983" cy="5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23950" cy="67691"/>
            </a:xfrm>
            <a:custGeom>
              <a:avLst/>
              <a:gdLst/>
              <a:ahLst/>
              <a:cxnLst/>
              <a:rect r="r" b="b" t="t" l="l"/>
              <a:pathLst>
                <a:path h="67691" w="1123950">
                  <a:moveTo>
                    <a:pt x="33909" y="0"/>
                  </a:moveTo>
                  <a:lnTo>
                    <a:pt x="1090041" y="0"/>
                  </a:lnTo>
                  <a:cubicBezTo>
                    <a:pt x="1108710" y="0"/>
                    <a:pt x="1123950" y="15113"/>
                    <a:pt x="1123950" y="33909"/>
                  </a:cubicBezTo>
                  <a:cubicBezTo>
                    <a:pt x="1123950" y="52705"/>
                    <a:pt x="1108710" y="67691"/>
                    <a:pt x="1090041" y="67691"/>
                  </a:cubicBezTo>
                  <a:lnTo>
                    <a:pt x="33909" y="67691"/>
                  </a:lnTo>
                  <a:cubicBezTo>
                    <a:pt x="15113" y="67691"/>
                    <a:pt x="0" y="52578"/>
                    <a:pt x="0" y="33909"/>
                  </a:cubicBezTo>
                  <a:cubicBezTo>
                    <a:pt x="0" y="15240"/>
                    <a:pt x="15113" y="0"/>
                    <a:pt x="33909" y="0"/>
                  </a:cubicBezTo>
                  <a:close/>
                </a:path>
              </a:pathLst>
            </a:custGeom>
            <a:solidFill>
              <a:srgbClr val="C07A3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002821"/>
            <a:ext cx="4809592" cy="668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5599" spc="-335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Results (images)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028700" y="2243617"/>
            <a:ext cx="15426261" cy="6883969"/>
          </a:xfrm>
          <a:custGeom>
            <a:avLst/>
            <a:gdLst/>
            <a:ahLst/>
            <a:cxnLst/>
            <a:rect r="r" b="b" t="t" l="l"/>
            <a:pathLst>
              <a:path h="6883969" w="15426261">
                <a:moveTo>
                  <a:pt x="0" y="0"/>
                </a:moveTo>
                <a:lnTo>
                  <a:pt x="15426261" y="0"/>
                </a:lnTo>
                <a:lnTo>
                  <a:pt x="15426261" y="6883969"/>
                </a:lnTo>
                <a:lnTo>
                  <a:pt x="0" y="68839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EBEA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086350" y="2609860"/>
            <a:ext cx="8115300" cy="27463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99"/>
              </a:lnSpc>
            </a:pPr>
            <a:r>
              <a:rPr lang="en-US" sz="19999" i="true" spc="-1199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The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8728881" y="6400810"/>
            <a:ext cx="830237" cy="38100"/>
            <a:chOff x="0" y="0"/>
            <a:chExt cx="1106983" cy="50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06932" cy="50800"/>
            </a:xfrm>
            <a:custGeom>
              <a:avLst/>
              <a:gdLst/>
              <a:ahLst/>
              <a:cxnLst/>
              <a:rect r="r" b="b" t="t" l="l"/>
              <a:pathLst>
                <a:path h="50800" w="1106932">
                  <a:moveTo>
                    <a:pt x="25400" y="0"/>
                  </a:moveTo>
                  <a:lnTo>
                    <a:pt x="1081532" y="0"/>
                  </a:lnTo>
                  <a:cubicBezTo>
                    <a:pt x="1095502" y="0"/>
                    <a:pt x="1106932" y="11430"/>
                    <a:pt x="1106932" y="25400"/>
                  </a:cubicBezTo>
                  <a:cubicBezTo>
                    <a:pt x="1106932" y="39370"/>
                    <a:pt x="1095502" y="50800"/>
                    <a:pt x="1081532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C07A35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5086350" y="4806953"/>
            <a:ext cx="8115300" cy="16128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00"/>
              </a:lnSpc>
            </a:pPr>
            <a:r>
              <a:rPr lang="en-US" sz="14000" spc="-84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DAHD0GsSHXE</dc:identifier>
  <dcterms:modified xsi:type="dcterms:W3CDTF">2011-08-01T06:04:30Z</dcterms:modified>
  <cp:revision>1</cp:revision>
  <dc:title>Conference PPT</dc:title>
</cp:coreProperties>
</file>